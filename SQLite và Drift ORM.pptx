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x="18288000" cy="10287000"/>
  <p:notesSz cx="6858000" cy="9144000"/>
  <p:embeddedFontLst>
    <p:embeddedFont>
      <p:font typeface="Barlow SemiCondensed Bold" charset="1" panose="00000806000000000000"/>
      <p:regular r:id="rId54"/>
    </p:embeddedFont>
    <p:embeddedFont>
      <p:font typeface="Cousine Bold" charset="1" panose="02070709020205020404"/>
      <p:regular r:id="rId55"/>
    </p:embeddedFont>
    <p:embeddedFont>
      <p:font typeface="Cousine" charset="1" panose="02070409020205020404"/>
      <p:regular r:id="rId56"/>
    </p:embeddedFont>
    <p:embeddedFont>
      <p:font typeface="Roboto Bold" charset="1" panose="02000000000000000000"/>
      <p:regular r:id="rId57"/>
    </p:embeddedFont>
    <p:embeddedFont>
      <p:font typeface="Montserrat Bold" charset="1" panose="00000800000000000000"/>
      <p:regular r:id="rId58"/>
    </p:embeddedFont>
    <p:embeddedFont>
      <p:font typeface="Montserrat Semi-Bold" charset="1" panose="00000700000000000000"/>
      <p:regular r:id="rId59"/>
    </p:embeddedFont>
    <p:embeddedFont>
      <p:font typeface="Montserrat Bold Italics" charset="1" panose="00000800000000000000"/>
      <p:regular r:id="rId60"/>
    </p:embeddedFont>
    <p:embeddedFont>
      <p:font typeface="Montserrat" charset="1" panose="00000500000000000000"/>
      <p:regular r:id="rId61"/>
    </p:embeddedFont>
    <p:embeddedFont>
      <p:font typeface="Roboto" charset="1" panose="02000000000000000000"/>
      <p:regular r:id="rId62"/>
    </p:embeddedFont>
    <p:embeddedFont>
      <p:font typeface="Roboto Bold Italics" charset="1" panose="02000000000000000000"/>
      <p:regular r:id="rId6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embeddings/oleObject1.bin" Type="http://schemas.openxmlformats.org/officeDocument/2006/relationships/oleObjec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https://sqlite.org/fullsql.html" TargetMode="External" Type="http://schemas.openxmlformats.org/officeDocument/2006/relationships/hyperlink"/><Relationship Id="rId2" Target="../media/image1.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https://sqlite.org/footprint.html" TargetMode="External" Type="http://schemas.openxmlformats.org/officeDocument/2006/relationships/hyperlink"/><Relationship Id="rId7" Target="https://sqlite.org/fasterthanfs.html" TargetMode="External" Type="http://schemas.openxmlformats.org/officeDocument/2006/relationships/hyperlink"/><Relationship Id="rId8" Target="https://sqlite.org/selfcontained.html" TargetMode="External" Type="http://schemas.openxmlformats.org/officeDocument/2006/relationships/hyperlink"/><Relationship Id="rId9" Target="https://sqlite.org/hirely.html"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https://sqlite.org/selfcontained.html" TargetMode="External" Type="http://schemas.openxmlformats.org/officeDocument/2006/relationships/hyperlink"/><Relationship Id="rId5" Target="https://sqlite.org/serverless.html" TargetMode="External" Type="http://schemas.openxmlformats.org/officeDocument/2006/relationships/hyperlink"/><Relationship Id="rId6" Target="https://sqlite.org/zeroconf.html" TargetMode="External" Type="http://schemas.openxmlformats.org/officeDocument/2006/relationships/hyperlink"/><Relationship Id="rId7"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9.png" Type="http://schemas.openxmlformats.org/officeDocument/2006/relationships/image"/><Relationship Id="rId4" Target="https://pub.dev/packages/sqflite/install" TargetMode="External" Type="http://schemas.openxmlformats.org/officeDocument/2006/relationships/hyperlink"/><Relationship Id="rId5" Target="https://pub.dev/packages/path/install"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 Id="rId3" Target="../media/image61.png" Type="http://schemas.openxmlformats.org/officeDocument/2006/relationships/image"/><Relationship Id="rId4" Target="../media/image6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 Id="rId3" Target="../media/image67.png" Type="http://schemas.openxmlformats.org/officeDocument/2006/relationships/image"/><Relationship Id="rId4" Target="../media/image68.png" Type="http://schemas.openxmlformats.org/officeDocument/2006/relationships/image"/><Relationship Id="rId5" Target="../media/image69.png" Type="http://schemas.openxmlformats.org/officeDocument/2006/relationships/image"/><Relationship Id="rId6" Target="../media/image70.png" Type="http://schemas.openxmlformats.org/officeDocument/2006/relationships/image"/><Relationship Id="rId7" Target="../media/image7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4.png" Type="http://schemas.openxmlformats.org/officeDocument/2006/relationships/image"/><Relationship Id="rId4" Target="../media/image7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7.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8.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9.png" Type="http://schemas.openxmlformats.org/officeDocument/2006/relationships/image"/><Relationship Id="rId4" Target="../media/image80.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1.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4.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7.png" Type="http://schemas.openxmlformats.org/officeDocument/2006/relationships/image"/><Relationship Id="rId4" Target="../media/image85.png" Type="http://schemas.openxmlformats.org/officeDocument/2006/relationships/image"/><Relationship Id="rId5" Target="../media/image86.png" Type="http://schemas.openxmlformats.org/officeDocument/2006/relationships/image"/><Relationship Id="rId6" Target="../media/image87.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8.png" Type="http://schemas.openxmlformats.org/officeDocument/2006/relationships/image"/><Relationship Id="rId3" Target="../media/image89.png" Type="http://schemas.openxmlformats.org/officeDocument/2006/relationships/image"/><Relationship Id="rId4" Target="../media/image90.png" Type="http://schemas.openxmlformats.org/officeDocument/2006/relationships/image"/><Relationship Id="rId5" Target="../media/image91.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2.png" Type="http://schemas.openxmlformats.org/officeDocument/2006/relationships/image"/><Relationship Id="rId3" Target="../media/image93.png" Type="http://schemas.openxmlformats.org/officeDocument/2006/relationships/image"/><Relationship Id="rId4" Target="../media/image94.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5.png" Type="http://schemas.openxmlformats.org/officeDocument/2006/relationships/image"/><Relationship Id="rId4" Target="../media/image9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0">
            <a:off x="-1264442" y="-201411"/>
            <a:ext cx="11320103" cy="11320103"/>
          </a:xfrm>
          <a:custGeom>
            <a:avLst/>
            <a:gdLst/>
            <a:ahLst/>
            <a:cxnLst/>
            <a:rect r="r" b="b" t="t" l="l"/>
            <a:pathLst>
              <a:path h="11320103" w="11320103">
                <a:moveTo>
                  <a:pt x="11320104" y="0"/>
                </a:moveTo>
                <a:lnTo>
                  <a:pt x="0" y="0"/>
                </a:lnTo>
                <a:lnTo>
                  <a:pt x="0" y="11320103"/>
                </a:lnTo>
                <a:lnTo>
                  <a:pt x="11320104" y="11320103"/>
                </a:lnTo>
                <a:lnTo>
                  <a:pt x="1132010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001991" y="1233702"/>
            <a:ext cx="923054" cy="923054"/>
          </a:xfrm>
          <a:custGeom>
            <a:avLst/>
            <a:gdLst/>
            <a:ahLst/>
            <a:cxnLst/>
            <a:rect r="r" b="b" t="t" l="l"/>
            <a:pathLst>
              <a:path h="923054" w="923054">
                <a:moveTo>
                  <a:pt x="0" y="0"/>
                </a:moveTo>
                <a:lnTo>
                  <a:pt x="923054" y="0"/>
                </a:lnTo>
                <a:lnTo>
                  <a:pt x="923054" y="923054"/>
                </a:lnTo>
                <a:lnTo>
                  <a:pt x="0" y="923054"/>
                </a:lnTo>
                <a:lnTo>
                  <a:pt x="0" y="0"/>
                </a:lnTo>
                <a:close/>
              </a:path>
            </a:pathLst>
          </a:custGeom>
          <a:blipFill>
            <a:blip r:embed="rId5"/>
            <a:stretch>
              <a:fillRect l="0" t="0" r="0" b="0"/>
            </a:stretch>
          </a:blipFill>
        </p:spPr>
      </p:sp>
      <p:sp>
        <p:nvSpPr>
          <p:cNvPr name="Freeform 5" id="5"/>
          <p:cNvSpPr/>
          <p:nvPr/>
        </p:nvSpPr>
        <p:spPr>
          <a:xfrm flipH="false" flipV="false" rot="0">
            <a:off x="3250947" y="1190852"/>
            <a:ext cx="923054" cy="923054"/>
          </a:xfrm>
          <a:custGeom>
            <a:avLst/>
            <a:gdLst/>
            <a:ahLst/>
            <a:cxnLst/>
            <a:rect r="r" b="b" t="t" l="l"/>
            <a:pathLst>
              <a:path h="923054" w="923054">
                <a:moveTo>
                  <a:pt x="0" y="0"/>
                </a:moveTo>
                <a:lnTo>
                  <a:pt x="923054" y="0"/>
                </a:lnTo>
                <a:lnTo>
                  <a:pt x="923054" y="923054"/>
                </a:lnTo>
                <a:lnTo>
                  <a:pt x="0" y="923054"/>
                </a:lnTo>
                <a:lnTo>
                  <a:pt x="0" y="0"/>
                </a:lnTo>
                <a:close/>
              </a:path>
            </a:pathLst>
          </a:custGeom>
          <a:blipFill>
            <a:blip r:embed="rId6"/>
            <a:stretch>
              <a:fillRect l="0" t="0" r="0" b="0"/>
            </a:stretch>
          </a:blipFill>
        </p:spPr>
      </p:sp>
      <p:sp>
        <p:nvSpPr>
          <p:cNvPr name="Freeform 6" id="6"/>
          <p:cNvSpPr/>
          <p:nvPr/>
        </p:nvSpPr>
        <p:spPr>
          <a:xfrm flipH="false" flipV="false" rot="0">
            <a:off x="4735976" y="1233702"/>
            <a:ext cx="1008755" cy="1008755"/>
          </a:xfrm>
          <a:custGeom>
            <a:avLst/>
            <a:gdLst/>
            <a:ahLst/>
            <a:cxnLst/>
            <a:rect r="r" b="b" t="t" l="l"/>
            <a:pathLst>
              <a:path h="1008755" w="1008755">
                <a:moveTo>
                  <a:pt x="0" y="0"/>
                </a:moveTo>
                <a:lnTo>
                  <a:pt x="1008755" y="0"/>
                </a:lnTo>
                <a:lnTo>
                  <a:pt x="1008755" y="1008755"/>
                </a:lnTo>
                <a:lnTo>
                  <a:pt x="0" y="1008755"/>
                </a:lnTo>
                <a:lnTo>
                  <a:pt x="0" y="0"/>
                </a:lnTo>
                <a:close/>
              </a:path>
            </a:pathLst>
          </a:custGeom>
          <a:blipFill>
            <a:blip r:embed="rId7"/>
            <a:stretch>
              <a:fillRect l="0" t="0" r="0" b="0"/>
            </a:stretch>
          </a:blipFill>
        </p:spPr>
      </p:sp>
      <p:sp>
        <p:nvSpPr>
          <p:cNvPr name="Freeform 7" id="7"/>
          <p:cNvSpPr/>
          <p:nvPr/>
        </p:nvSpPr>
        <p:spPr>
          <a:xfrm flipH="false" flipV="false" rot="0">
            <a:off x="6306706" y="1233702"/>
            <a:ext cx="1030589" cy="1008755"/>
          </a:xfrm>
          <a:custGeom>
            <a:avLst/>
            <a:gdLst/>
            <a:ahLst/>
            <a:cxnLst/>
            <a:rect r="r" b="b" t="t" l="l"/>
            <a:pathLst>
              <a:path h="1008755" w="1030589">
                <a:moveTo>
                  <a:pt x="0" y="0"/>
                </a:moveTo>
                <a:lnTo>
                  <a:pt x="1030589" y="0"/>
                </a:lnTo>
                <a:lnTo>
                  <a:pt x="1030589" y="1008755"/>
                </a:lnTo>
                <a:lnTo>
                  <a:pt x="0" y="1008755"/>
                </a:lnTo>
                <a:lnTo>
                  <a:pt x="0" y="0"/>
                </a:lnTo>
                <a:close/>
              </a:path>
            </a:pathLst>
          </a:custGeom>
          <a:blipFill>
            <a:blip r:embed="rId8"/>
            <a:stretch>
              <a:fillRect l="0" t="0" r="0" b="0"/>
            </a:stretch>
          </a:blipFill>
        </p:spPr>
      </p:sp>
      <p:sp>
        <p:nvSpPr>
          <p:cNvPr name="Freeform 8" id="8"/>
          <p:cNvSpPr/>
          <p:nvPr/>
        </p:nvSpPr>
        <p:spPr>
          <a:xfrm flipH="false" flipV="false" rot="0">
            <a:off x="3010428" y="6349398"/>
            <a:ext cx="2734303" cy="755662"/>
          </a:xfrm>
          <a:custGeom>
            <a:avLst/>
            <a:gdLst/>
            <a:ahLst/>
            <a:cxnLst/>
            <a:rect r="r" b="b" t="t" l="l"/>
            <a:pathLst>
              <a:path h="755662" w="2734303">
                <a:moveTo>
                  <a:pt x="0" y="0"/>
                </a:moveTo>
                <a:lnTo>
                  <a:pt x="2734303" y="0"/>
                </a:lnTo>
                <a:lnTo>
                  <a:pt x="2734303" y="755662"/>
                </a:lnTo>
                <a:lnTo>
                  <a:pt x="0" y="7556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0121517" y="728161"/>
            <a:ext cx="7928140" cy="4415339"/>
          </a:xfrm>
          <a:custGeom>
            <a:avLst/>
            <a:gdLst/>
            <a:ahLst/>
            <a:cxnLst/>
            <a:rect r="r" b="b" t="t" l="l"/>
            <a:pathLst>
              <a:path h="4415339" w="7928140">
                <a:moveTo>
                  <a:pt x="0" y="0"/>
                </a:moveTo>
                <a:lnTo>
                  <a:pt x="7928140" y="0"/>
                </a:lnTo>
                <a:lnTo>
                  <a:pt x="7928140" y="4415339"/>
                </a:lnTo>
                <a:lnTo>
                  <a:pt x="0" y="4415339"/>
                </a:lnTo>
                <a:lnTo>
                  <a:pt x="0" y="0"/>
                </a:lnTo>
                <a:close/>
              </a:path>
            </a:pathLst>
          </a:custGeom>
          <a:blipFill>
            <a:blip r:embed="rId11"/>
            <a:stretch>
              <a:fillRect l="-6116" t="0" r="-11995" b="-38236"/>
            </a:stretch>
          </a:blipFill>
        </p:spPr>
      </p:sp>
      <p:sp>
        <p:nvSpPr>
          <p:cNvPr name="Freeform 10" id="10"/>
          <p:cNvSpPr/>
          <p:nvPr/>
        </p:nvSpPr>
        <p:spPr>
          <a:xfrm flipH="false" flipV="false" rot="0">
            <a:off x="10121517" y="5381518"/>
            <a:ext cx="7928140" cy="4454607"/>
          </a:xfrm>
          <a:custGeom>
            <a:avLst/>
            <a:gdLst/>
            <a:ahLst/>
            <a:cxnLst/>
            <a:rect r="r" b="b" t="t" l="l"/>
            <a:pathLst>
              <a:path h="4454607" w="7928140">
                <a:moveTo>
                  <a:pt x="0" y="0"/>
                </a:moveTo>
                <a:lnTo>
                  <a:pt x="7928140" y="0"/>
                </a:lnTo>
                <a:lnTo>
                  <a:pt x="7928140" y="4454607"/>
                </a:lnTo>
                <a:lnTo>
                  <a:pt x="0" y="4454607"/>
                </a:lnTo>
                <a:lnTo>
                  <a:pt x="0" y="0"/>
                </a:lnTo>
                <a:close/>
              </a:path>
            </a:pathLst>
          </a:custGeom>
          <a:blipFill>
            <a:blip r:embed="rId12"/>
            <a:stretch>
              <a:fillRect l="0" t="0" r="0" b="0"/>
            </a:stretch>
          </a:blipFill>
        </p:spPr>
      </p:sp>
      <p:sp>
        <p:nvSpPr>
          <p:cNvPr name="TextBox 11" id="11"/>
          <p:cNvSpPr txBox="true"/>
          <p:nvPr/>
        </p:nvSpPr>
        <p:spPr>
          <a:xfrm rot="0">
            <a:off x="0" y="3687695"/>
            <a:ext cx="9660408" cy="2004049"/>
          </a:xfrm>
          <a:prstGeom prst="rect">
            <a:avLst/>
          </a:prstGeom>
        </p:spPr>
        <p:txBody>
          <a:bodyPr anchor="t" rtlCol="false" tIns="0" lIns="0" bIns="0" rIns="0">
            <a:spAutoFit/>
          </a:bodyPr>
          <a:lstStyle/>
          <a:p>
            <a:pPr algn="ctr">
              <a:lnSpc>
                <a:spcPts val="7804"/>
              </a:lnSpc>
            </a:pPr>
            <a:r>
              <a:rPr lang="en-US" b="true" sz="7094">
                <a:solidFill>
                  <a:srgbClr val="FFFFFF"/>
                </a:solidFill>
                <a:latin typeface="Barlow SemiCondensed Bold"/>
                <a:ea typeface="Barlow SemiCondensed Bold"/>
                <a:cs typeface="Barlow SemiCondensed Bold"/>
                <a:sym typeface="Barlow SemiCondensed Bold"/>
              </a:rPr>
              <a:t>SQLITE VÀ DRIFT - QUẢN LÝ CƠ SỞ DỮ LIỆU QUAN HỆ</a:t>
            </a:r>
          </a:p>
        </p:txBody>
      </p:sp>
      <p:sp>
        <p:nvSpPr>
          <p:cNvPr name="TextBox 12" id="12"/>
          <p:cNvSpPr txBox="true"/>
          <p:nvPr/>
        </p:nvSpPr>
        <p:spPr>
          <a:xfrm rot="0">
            <a:off x="1442439" y="2886745"/>
            <a:ext cx="6775530" cy="540224"/>
          </a:xfrm>
          <a:prstGeom prst="rect">
            <a:avLst/>
          </a:prstGeom>
        </p:spPr>
        <p:txBody>
          <a:bodyPr anchor="t" rtlCol="false" tIns="0" lIns="0" bIns="0" rIns="0">
            <a:spAutoFit/>
          </a:bodyPr>
          <a:lstStyle/>
          <a:p>
            <a:pPr algn="l">
              <a:lnSpc>
                <a:spcPts val="4018"/>
              </a:lnSpc>
            </a:pPr>
            <a:r>
              <a:rPr lang="en-US" sz="4018" b="true">
                <a:solidFill>
                  <a:srgbClr val="000000"/>
                </a:solidFill>
                <a:latin typeface="Cousine Bold"/>
                <a:ea typeface="Cousine Bold"/>
                <a:cs typeface="Cousine Bold"/>
                <a:sym typeface="Cousine Bold"/>
              </a:rPr>
              <a:t>Lập trình đa nền tảng</a:t>
            </a:r>
          </a:p>
        </p:txBody>
      </p:sp>
      <p:sp>
        <p:nvSpPr>
          <p:cNvPr name="TextBox 13" id="13"/>
          <p:cNvSpPr txBox="true"/>
          <p:nvPr/>
        </p:nvSpPr>
        <p:spPr>
          <a:xfrm rot="0">
            <a:off x="1028700" y="7419410"/>
            <a:ext cx="8008492" cy="1838890"/>
          </a:xfrm>
          <a:prstGeom prst="rect">
            <a:avLst/>
          </a:prstGeom>
        </p:spPr>
        <p:txBody>
          <a:bodyPr anchor="t" rtlCol="false" tIns="0" lIns="0" bIns="0" rIns="0">
            <a:spAutoFit/>
          </a:bodyPr>
          <a:lstStyle/>
          <a:p>
            <a:pPr algn="l">
              <a:lnSpc>
                <a:spcPts val="3638"/>
              </a:lnSpc>
            </a:pPr>
            <a:r>
              <a:rPr lang="en-US" sz="2911" b="true">
                <a:solidFill>
                  <a:srgbClr val="FFFFFF"/>
                </a:solidFill>
                <a:latin typeface="Cousine Bold"/>
                <a:ea typeface="Cousine Bold"/>
                <a:cs typeface="Cousine Bold"/>
                <a:sym typeface="Cousine Bold"/>
              </a:rPr>
              <a:t>Danh sách thành viên:</a:t>
            </a:r>
          </a:p>
          <a:p>
            <a:pPr algn="l" marL="628497" indent="-314249" lvl="1">
              <a:lnSpc>
                <a:spcPts val="3638"/>
              </a:lnSpc>
              <a:buAutoNum type="arabicPeriod" startAt="1"/>
            </a:pPr>
            <a:r>
              <a:rPr lang="en-US" sz="2911">
                <a:solidFill>
                  <a:srgbClr val="FFFFFF"/>
                </a:solidFill>
                <a:latin typeface="Cousine"/>
                <a:ea typeface="Cousine"/>
                <a:cs typeface="Cousine"/>
                <a:sym typeface="Cousine"/>
              </a:rPr>
              <a:t>Nguyễn Văn Quý - 22KTMT1</a:t>
            </a:r>
          </a:p>
          <a:p>
            <a:pPr algn="l" marL="628497" indent="-314249" lvl="1">
              <a:lnSpc>
                <a:spcPts val="3638"/>
              </a:lnSpc>
              <a:buAutoNum type="arabicPeriod" startAt="1"/>
            </a:pPr>
            <a:r>
              <a:rPr lang="en-US" sz="2911">
                <a:solidFill>
                  <a:srgbClr val="FFFFFF"/>
                </a:solidFill>
                <a:latin typeface="Cousine"/>
                <a:ea typeface="Cousine"/>
                <a:cs typeface="Cousine"/>
                <a:sym typeface="Cousine"/>
              </a:rPr>
              <a:t>Huỳnh Công Huy - 22KTMT2</a:t>
            </a:r>
          </a:p>
          <a:p>
            <a:pPr algn="l">
              <a:lnSpc>
                <a:spcPts val="3638"/>
              </a:lnSpc>
            </a:pPr>
            <a:r>
              <a:rPr lang="en-US" sz="2911" b="true">
                <a:solidFill>
                  <a:srgbClr val="FFFFFF"/>
                </a:solidFill>
                <a:latin typeface="Cousine Bold"/>
                <a:ea typeface="Cousine Bold"/>
                <a:cs typeface="Cousine Bold"/>
                <a:sym typeface="Cousine Bold"/>
              </a:rPr>
              <a:t>GVHD: </a:t>
            </a:r>
            <a:r>
              <a:rPr lang="en-US" sz="2911">
                <a:solidFill>
                  <a:srgbClr val="FFFFFF"/>
                </a:solidFill>
                <a:latin typeface="Cousine"/>
                <a:ea typeface="Cousine"/>
                <a:cs typeface="Cousine"/>
                <a:sym typeface="Cousine"/>
              </a:rPr>
              <a:t>TS. Nguyễn Duy Nhật Viễn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aphicFrame>
        <p:nvGraphicFramePr>
          <p:cNvPr name="Object 3" id="3"/>
          <p:cNvGraphicFramePr/>
          <p:nvPr/>
        </p:nvGraphicFramePr>
        <p:xfrm>
          <a:off x="1028700" y="2567378"/>
          <a:ext cx="16230600" cy="6690922"/>
        </p:xfrm>
        <a:graphic>
          <a:graphicData uri="http://schemas.openxmlformats.org/presentationml/2006/ole">
            <p:oleObj imgW="19469100" imgH="99314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2824905" y="352504"/>
            <a:ext cx="12638190" cy="1552575"/>
          </a:xfrm>
          <a:prstGeom prst="rect">
            <a:avLst/>
          </a:prstGeom>
        </p:spPr>
        <p:txBody>
          <a:bodyPr anchor="t" rtlCol="false" tIns="0" lIns="0" bIns="0" rIns="0">
            <a:spAutoFit/>
          </a:bodyPr>
          <a:lstStyle/>
          <a:p>
            <a:pPr algn="l">
              <a:lnSpc>
                <a:spcPts val="12599"/>
              </a:lnSpc>
            </a:pPr>
            <a:r>
              <a:rPr lang="en-US" sz="9000" b="true">
                <a:solidFill>
                  <a:srgbClr val="000000"/>
                </a:solidFill>
                <a:latin typeface="Roboto Bold"/>
                <a:ea typeface="Roboto Bold"/>
                <a:cs typeface="Roboto Bold"/>
                <a:sym typeface="Roboto Bold"/>
              </a:rPr>
              <a:t>PHÂN CHIA CÔNG VIỆC</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35388" y="3679235"/>
            <a:ext cx="2906020" cy="2928530"/>
            <a:chOff x="0" y="0"/>
            <a:chExt cx="765371" cy="771300"/>
          </a:xfrm>
        </p:grpSpPr>
        <p:sp>
          <p:nvSpPr>
            <p:cNvPr name="Freeform 4" id="4"/>
            <p:cNvSpPr/>
            <p:nvPr/>
          </p:nvSpPr>
          <p:spPr>
            <a:xfrm flipH="false" flipV="false" rot="0">
              <a:off x="0" y="0"/>
              <a:ext cx="765371" cy="771300"/>
            </a:xfrm>
            <a:custGeom>
              <a:avLst/>
              <a:gdLst/>
              <a:ahLst/>
              <a:cxnLst/>
              <a:rect r="r" b="b" t="t" l="l"/>
              <a:pathLst>
                <a:path h="771300" w="765371">
                  <a:moveTo>
                    <a:pt x="175830" y="0"/>
                  </a:moveTo>
                  <a:lnTo>
                    <a:pt x="589541" y="0"/>
                  </a:lnTo>
                  <a:cubicBezTo>
                    <a:pt x="636174" y="0"/>
                    <a:pt x="680897" y="18525"/>
                    <a:pt x="713872" y="51500"/>
                  </a:cubicBezTo>
                  <a:cubicBezTo>
                    <a:pt x="746847" y="84474"/>
                    <a:pt x="765371" y="129197"/>
                    <a:pt x="765371" y="175830"/>
                  </a:cubicBezTo>
                  <a:lnTo>
                    <a:pt x="765371" y="595470"/>
                  </a:lnTo>
                  <a:cubicBezTo>
                    <a:pt x="765371" y="642103"/>
                    <a:pt x="746847" y="686826"/>
                    <a:pt x="713872" y="719800"/>
                  </a:cubicBezTo>
                  <a:cubicBezTo>
                    <a:pt x="680897" y="752775"/>
                    <a:pt x="636174" y="771300"/>
                    <a:pt x="589541" y="771300"/>
                  </a:cubicBezTo>
                  <a:lnTo>
                    <a:pt x="175830" y="771300"/>
                  </a:lnTo>
                  <a:cubicBezTo>
                    <a:pt x="129197" y="771300"/>
                    <a:pt x="84474" y="752775"/>
                    <a:pt x="51500" y="719800"/>
                  </a:cubicBezTo>
                  <a:cubicBezTo>
                    <a:pt x="18525" y="686826"/>
                    <a:pt x="0" y="642103"/>
                    <a:pt x="0" y="595470"/>
                  </a:cubicBezTo>
                  <a:lnTo>
                    <a:pt x="0" y="175830"/>
                  </a:lnTo>
                  <a:cubicBezTo>
                    <a:pt x="0" y="129197"/>
                    <a:pt x="18525" y="84474"/>
                    <a:pt x="51500" y="51500"/>
                  </a:cubicBezTo>
                  <a:cubicBezTo>
                    <a:pt x="84474" y="18525"/>
                    <a:pt x="129197" y="0"/>
                    <a:pt x="175830" y="0"/>
                  </a:cubicBezTo>
                  <a:close/>
                </a:path>
              </a:pathLst>
            </a:custGeom>
            <a:solidFill>
              <a:srgbClr val="6DCCEF"/>
            </a:solidFill>
          </p:spPr>
        </p:sp>
        <p:sp>
          <p:nvSpPr>
            <p:cNvPr name="TextBox 5" id="5"/>
            <p:cNvSpPr txBox="true"/>
            <p:nvPr/>
          </p:nvSpPr>
          <p:spPr>
            <a:xfrm>
              <a:off x="0" y="-57150"/>
              <a:ext cx="765371" cy="828450"/>
            </a:xfrm>
            <a:prstGeom prst="rect">
              <a:avLst/>
            </a:prstGeom>
          </p:spPr>
          <p:txBody>
            <a:bodyPr anchor="ctr" rtlCol="false" tIns="50800" lIns="50800" bIns="50800" rIns="50800"/>
            <a:lstStyle/>
            <a:p>
              <a:pPr algn="ctr">
                <a:lnSpc>
                  <a:spcPts val="4200"/>
                </a:lnSpc>
                <a:spcBef>
                  <a:spcPct val="0"/>
                </a:spcBef>
              </a:pPr>
              <a:r>
                <a:rPr lang="en-US" b="true" sz="3000">
                  <a:solidFill>
                    <a:srgbClr val="FFFFFF"/>
                  </a:solidFill>
                  <a:latin typeface="Montserrat Bold"/>
                  <a:ea typeface="Montserrat Bold"/>
                  <a:cs typeface="Montserrat Bold"/>
                  <a:sym typeface="Montserrat Bold"/>
                </a:rPr>
                <a:t>1.SQLite</a:t>
              </a:r>
            </a:p>
          </p:txBody>
        </p:sp>
      </p:grpSp>
      <p:grpSp>
        <p:nvGrpSpPr>
          <p:cNvPr name="Group 6" id="6"/>
          <p:cNvGrpSpPr/>
          <p:nvPr/>
        </p:nvGrpSpPr>
        <p:grpSpPr>
          <a:xfrm rot="0">
            <a:off x="4260673" y="3679235"/>
            <a:ext cx="2906020" cy="2928530"/>
            <a:chOff x="0" y="0"/>
            <a:chExt cx="765371" cy="771300"/>
          </a:xfrm>
        </p:grpSpPr>
        <p:sp>
          <p:nvSpPr>
            <p:cNvPr name="Freeform 7" id="7"/>
            <p:cNvSpPr/>
            <p:nvPr/>
          </p:nvSpPr>
          <p:spPr>
            <a:xfrm flipH="false" flipV="false" rot="0">
              <a:off x="0" y="0"/>
              <a:ext cx="765371" cy="771300"/>
            </a:xfrm>
            <a:custGeom>
              <a:avLst/>
              <a:gdLst/>
              <a:ahLst/>
              <a:cxnLst/>
              <a:rect r="r" b="b" t="t" l="l"/>
              <a:pathLst>
                <a:path h="771300" w="765371">
                  <a:moveTo>
                    <a:pt x="175830" y="0"/>
                  </a:moveTo>
                  <a:lnTo>
                    <a:pt x="589541" y="0"/>
                  </a:lnTo>
                  <a:cubicBezTo>
                    <a:pt x="636174" y="0"/>
                    <a:pt x="680897" y="18525"/>
                    <a:pt x="713872" y="51500"/>
                  </a:cubicBezTo>
                  <a:cubicBezTo>
                    <a:pt x="746847" y="84474"/>
                    <a:pt x="765371" y="129197"/>
                    <a:pt x="765371" y="175830"/>
                  </a:cubicBezTo>
                  <a:lnTo>
                    <a:pt x="765371" y="595470"/>
                  </a:lnTo>
                  <a:cubicBezTo>
                    <a:pt x="765371" y="642103"/>
                    <a:pt x="746847" y="686826"/>
                    <a:pt x="713872" y="719800"/>
                  </a:cubicBezTo>
                  <a:cubicBezTo>
                    <a:pt x="680897" y="752775"/>
                    <a:pt x="636174" y="771300"/>
                    <a:pt x="589541" y="771300"/>
                  </a:cubicBezTo>
                  <a:lnTo>
                    <a:pt x="175830" y="771300"/>
                  </a:lnTo>
                  <a:cubicBezTo>
                    <a:pt x="129197" y="771300"/>
                    <a:pt x="84474" y="752775"/>
                    <a:pt x="51500" y="719800"/>
                  </a:cubicBezTo>
                  <a:cubicBezTo>
                    <a:pt x="18525" y="686826"/>
                    <a:pt x="0" y="642103"/>
                    <a:pt x="0" y="595470"/>
                  </a:cubicBezTo>
                  <a:lnTo>
                    <a:pt x="0" y="175830"/>
                  </a:lnTo>
                  <a:cubicBezTo>
                    <a:pt x="0" y="129197"/>
                    <a:pt x="18525" y="84474"/>
                    <a:pt x="51500" y="51500"/>
                  </a:cubicBezTo>
                  <a:cubicBezTo>
                    <a:pt x="84474" y="18525"/>
                    <a:pt x="129197" y="0"/>
                    <a:pt x="175830" y="0"/>
                  </a:cubicBezTo>
                  <a:close/>
                </a:path>
              </a:pathLst>
            </a:custGeom>
            <a:solidFill>
              <a:srgbClr val="6DCCEF"/>
            </a:solidFill>
          </p:spPr>
        </p:sp>
        <p:sp>
          <p:nvSpPr>
            <p:cNvPr name="TextBox 8" id="8"/>
            <p:cNvSpPr txBox="true"/>
            <p:nvPr/>
          </p:nvSpPr>
          <p:spPr>
            <a:xfrm>
              <a:off x="0" y="-57150"/>
              <a:ext cx="765371" cy="828450"/>
            </a:xfrm>
            <a:prstGeom prst="rect">
              <a:avLst/>
            </a:prstGeom>
          </p:spPr>
          <p:txBody>
            <a:bodyPr anchor="ctr" rtlCol="false" tIns="50800" lIns="50800" bIns="50800" rIns="50800"/>
            <a:lstStyle/>
            <a:p>
              <a:pPr algn="ctr">
                <a:lnSpc>
                  <a:spcPts val="4200"/>
                </a:lnSpc>
                <a:spcBef>
                  <a:spcPct val="0"/>
                </a:spcBef>
              </a:pPr>
              <a:r>
                <a:rPr lang="en-US" b="true" sz="3000">
                  <a:solidFill>
                    <a:srgbClr val="FFFFFF"/>
                  </a:solidFill>
                  <a:latin typeface="Montserrat Bold"/>
                  <a:ea typeface="Montserrat Bold"/>
                  <a:cs typeface="Montserrat Bold"/>
                  <a:sym typeface="Montserrat Bold"/>
                </a:rPr>
                <a:t>2.Drift</a:t>
              </a:r>
            </a:p>
          </p:txBody>
        </p:sp>
      </p:grpSp>
      <p:grpSp>
        <p:nvGrpSpPr>
          <p:cNvPr name="Group 9" id="9"/>
          <p:cNvGrpSpPr/>
          <p:nvPr/>
        </p:nvGrpSpPr>
        <p:grpSpPr>
          <a:xfrm rot="0">
            <a:off x="7785959" y="3679235"/>
            <a:ext cx="2906020" cy="2928530"/>
            <a:chOff x="0" y="0"/>
            <a:chExt cx="765371" cy="771300"/>
          </a:xfrm>
        </p:grpSpPr>
        <p:sp>
          <p:nvSpPr>
            <p:cNvPr name="Freeform 10" id="10"/>
            <p:cNvSpPr/>
            <p:nvPr/>
          </p:nvSpPr>
          <p:spPr>
            <a:xfrm flipH="false" flipV="false" rot="0">
              <a:off x="0" y="0"/>
              <a:ext cx="765371" cy="771300"/>
            </a:xfrm>
            <a:custGeom>
              <a:avLst/>
              <a:gdLst/>
              <a:ahLst/>
              <a:cxnLst/>
              <a:rect r="r" b="b" t="t" l="l"/>
              <a:pathLst>
                <a:path h="771300" w="765371">
                  <a:moveTo>
                    <a:pt x="175830" y="0"/>
                  </a:moveTo>
                  <a:lnTo>
                    <a:pt x="589541" y="0"/>
                  </a:lnTo>
                  <a:cubicBezTo>
                    <a:pt x="636174" y="0"/>
                    <a:pt x="680897" y="18525"/>
                    <a:pt x="713872" y="51500"/>
                  </a:cubicBezTo>
                  <a:cubicBezTo>
                    <a:pt x="746847" y="84474"/>
                    <a:pt x="765371" y="129197"/>
                    <a:pt x="765371" y="175830"/>
                  </a:cubicBezTo>
                  <a:lnTo>
                    <a:pt x="765371" y="595470"/>
                  </a:lnTo>
                  <a:cubicBezTo>
                    <a:pt x="765371" y="642103"/>
                    <a:pt x="746847" y="686826"/>
                    <a:pt x="713872" y="719800"/>
                  </a:cubicBezTo>
                  <a:cubicBezTo>
                    <a:pt x="680897" y="752775"/>
                    <a:pt x="636174" y="771300"/>
                    <a:pt x="589541" y="771300"/>
                  </a:cubicBezTo>
                  <a:lnTo>
                    <a:pt x="175830" y="771300"/>
                  </a:lnTo>
                  <a:cubicBezTo>
                    <a:pt x="129197" y="771300"/>
                    <a:pt x="84474" y="752775"/>
                    <a:pt x="51500" y="719800"/>
                  </a:cubicBezTo>
                  <a:cubicBezTo>
                    <a:pt x="18525" y="686826"/>
                    <a:pt x="0" y="642103"/>
                    <a:pt x="0" y="595470"/>
                  </a:cubicBezTo>
                  <a:lnTo>
                    <a:pt x="0" y="175830"/>
                  </a:lnTo>
                  <a:cubicBezTo>
                    <a:pt x="0" y="129197"/>
                    <a:pt x="18525" y="84474"/>
                    <a:pt x="51500" y="51500"/>
                  </a:cubicBezTo>
                  <a:cubicBezTo>
                    <a:pt x="84474" y="18525"/>
                    <a:pt x="129197" y="0"/>
                    <a:pt x="175830" y="0"/>
                  </a:cubicBezTo>
                  <a:close/>
                </a:path>
              </a:pathLst>
            </a:custGeom>
            <a:solidFill>
              <a:srgbClr val="6DCCEF"/>
            </a:solidFill>
          </p:spPr>
        </p:sp>
        <p:sp>
          <p:nvSpPr>
            <p:cNvPr name="TextBox 11" id="11"/>
            <p:cNvSpPr txBox="true"/>
            <p:nvPr/>
          </p:nvSpPr>
          <p:spPr>
            <a:xfrm>
              <a:off x="0" y="-57150"/>
              <a:ext cx="765371" cy="828450"/>
            </a:xfrm>
            <a:prstGeom prst="rect">
              <a:avLst/>
            </a:prstGeom>
          </p:spPr>
          <p:txBody>
            <a:bodyPr anchor="ctr" rtlCol="false" tIns="50800" lIns="50800" bIns="50800" rIns="50800"/>
            <a:lstStyle/>
            <a:p>
              <a:pPr algn="ctr">
                <a:lnSpc>
                  <a:spcPts val="4200"/>
                </a:lnSpc>
                <a:spcBef>
                  <a:spcPct val="0"/>
                </a:spcBef>
              </a:pPr>
              <a:r>
                <a:rPr lang="en-US" b="true" sz="3000">
                  <a:solidFill>
                    <a:srgbClr val="FFFFFF"/>
                  </a:solidFill>
                  <a:latin typeface="Montserrat Bold"/>
                  <a:ea typeface="Montserrat Bold"/>
                  <a:cs typeface="Montserrat Bold"/>
                  <a:sym typeface="Montserrat Bold"/>
                </a:rPr>
                <a:t>3.SƠ ĐỒ MẠCH</a:t>
              </a:r>
            </a:p>
          </p:txBody>
        </p:sp>
      </p:grpSp>
      <p:grpSp>
        <p:nvGrpSpPr>
          <p:cNvPr name="Group 12" id="12"/>
          <p:cNvGrpSpPr/>
          <p:nvPr/>
        </p:nvGrpSpPr>
        <p:grpSpPr>
          <a:xfrm rot="0">
            <a:off x="11311244" y="3679235"/>
            <a:ext cx="2906020" cy="2928530"/>
            <a:chOff x="0" y="0"/>
            <a:chExt cx="765371" cy="771300"/>
          </a:xfrm>
        </p:grpSpPr>
        <p:sp>
          <p:nvSpPr>
            <p:cNvPr name="Freeform 13" id="13"/>
            <p:cNvSpPr/>
            <p:nvPr/>
          </p:nvSpPr>
          <p:spPr>
            <a:xfrm flipH="false" flipV="false" rot="0">
              <a:off x="0" y="0"/>
              <a:ext cx="765371" cy="771300"/>
            </a:xfrm>
            <a:custGeom>
              <a:avLst/>
              <a:gdLst/>
              <a:ahLst/>
              <a:cxnLst/>
              <a:rect r="r" b="b" t="t" l="l"/>
              <a:pathLst>
                <a:path h="771300" w="765371">
                  <a:moveTo>
                    <a:pt x="175830" y="0"/>
                  </a:moveTo>
                  <a:lnTo>
                    <a:pt x="589541" y="0"/>
                  </a:lnTo>
                  <a:cubicBezTo>
                    <a:pt x="636174" y="0"/>
                    <a:pt x="680897" y="18525"/>
                    <a:pt x="713872" y="51500"/>
                  </a:cubicBezTo>
                  <a:cubicBezTo>
                    <a:pt x="746847" y="84474"/>
                    <a:pt x="765371" y="129197"/>
                    <a:pt x="765371" y="175830"/>
                  </a:cubicBezTo>
                  <a:lnTo>
                    <a:pt x="765371" y="595470"/>
                  </a:lnTo>
                  <a:cubicBezTo>
                    <a:pt x="765371" y="642103"/>
                    <a:pt x="746847" y="686826"/>
                    <a:pt x="713872" y="719800"/>
                  </a:cubicBezTo>
                  <a:cubicBezTo>
                    <a:pt x="680897" y="752775"/>
                    <a:pt x="636174" y="771300"/>
                    <a:pt x="589541" y="771300"/>
                  </a:cubicBezTo>
                  <a:lnTo>
                    <a:pt x="175830" y="771300"/>
                  </a:lnTo>
                  <a:cubicBezTo>
                    <a:pt x="129197" y="771300"/>
                    <a:pt x="84474" y="752775"/>
                    <a:pt x="51500" y="719800"/>
                  </a:cubicBezTo>
                  <a:cubicBezTo>
                    <a:pt x="18525" y="686826"/>
                    <a:pt x="0" y="642103"/>
                    <a:pt x="0" y="595470"/>
                  </a:cubicBezTo>
                  <a:lnTo>
                    <a:pt x="0" y="175830"/>
                  </a:lnTo>
                  <a:cubicBezTo>
                    <a:pt x="0" y="129197"/>
                    <a:pt x="18525" y="84474"/>
                    <a:pt x="51500" y="51500"/>
                  </a:cubicBezTo>
                  <a:cubicBezTo>
                    <a:pt x="84474" y="18525"/>
                    <a:pt x="129197" y="0"/>
                    <a:pt x="175830" y="0"/>
                  </a:cubicBezTo>
                  <a:close/>
                </a:path>
              </a:pathLst>
            </a:custGeom>
            <a:solidFill>
              <a:srgbClr val="6DCCEF"/>
            </a:solidFill>
          </p:spPr>
        </p:sp>
        <p:sp>
          <p:nvSpPr>
            <p:cNvPr name="TextBox 14" id="14"/>
            <p:cNvSpPr txBox="true"/>
            <p:nvPr/>
          </p:nvSpPr>
          <p:spPr>
            <a:xfrm>
              <a:off x="0" y="-57150"/>
              <a:ext cx="765371" cy="828450"/>
            </a:xfrm>
            <a:prstGeom prst="rect">
              <a:avLst/>
            </a:prstGeom>
          </p:spPr>
          <p:txBody>
            <a:bodyPr anchor="ctr" rtlCol="false" tIns="50800" lIns="50800" bIns="50800" rIns="50800"/>
            <a:lstStyle/>
            <a:p>
              <a:pPr algn="ctr">
                <a:lnSpc>
                  <a:spcPts val="4200"/>
                </a:lnSpc>
                <a:spcBef>
                  <a:spcPct val="0"/>
                </a:spcBef>
              </a:pPr>
              <a:r>
                <a:rPr lang="en-US" b="true" sz="3000">
                  <a:solidFill>
                    <a:srgbClr val="FFFFFF"/>
                  </a:solidFill>
                  <a:latin typeface="Montserrat Bold"/>
                  <a:ea typeface="Montserrat Bold"/>
                  <a:cs typeface="Montserrat Bold"/>
                  <a:sym typeface="Montserrat Bold"/>
                </a:rPr>
                <a:t>4.CODING</a:t>
              </a:r>
            </a:p>
          </p:txBody>
        </p:sp>
      </p:grpSp>
      <p:grpSp>
        <p:nvGrpSpPr>
          <p:cNvPr name="Group 15" id="15"/>
          <p:cNvGrpSpPr/>
          <p:nvPr/>
        </p:nvGrpSpPr>
        <p:grpSpPr>
          <a:xfrm rot="0">
            <a:off x="14836530" y="3679235"/>
            <a:ext cx="2906020" cy="2928530"/>
            <a:chOff x="0" y="0"/>
            <a:chExt cx="765371" cy="771300"/>
          </a:xfrm>
        </p:grpSpPr>
        <p:sp>
          <p:nvSpPr>
            <p:cNvPr name="Freeform 16" id="16"/>
            <p:cNvSpPr/>
            <p:nvPr/>
          </p:nvSpPr>
          <p:spPr>
            <a:xfrm flipH="false" flipV="false" rot="0">
              <a:off x="0" y="0"/>
              <a:ext cx="765371" cy="771300"/>
            </a:xfrm>
            <a:custGeom>
              <a:avLst/>
              <a:gdLst/>
              <a:ahLst/>
              <a:cxnLst/>
              <a:rect r="r" b="b" t="t" l="l"/>
              <a:pathLst>
                <a:path h="771300" w="765371">
                  <a:moveTo>
                    <a:pt x="175830" y="0"/>
                  </a:moveTo>
                  <a:lnTo>
                    <a:pt x="589541" y="0"/>
                  </a:lnTo>
                  <a:cubicBezTo>
                    <a:pt x="636174" y="0"/>
                    <a:pt x="680897" y="18525"/>
                    <a:pt x="713872" y="51500"/>
                  </a:cubicBezTo>
                  <a:cubicBezTo>
                    <a:pt x="746847" y="84474"/>
                    <a:pt x="765371" y="129197"/>
                    <a:pt x="765371" y="175830"/>
                  </a:cubicBezTo>
                  <a:lnTo>
                    <a:pt x="765371" y="595470"/>
                  </a:lnTo>
                  <a:cubicBezTo>
                    <a:pt x="765371" y="642103"/>
                    <a:pt x="746847" y="686826"/>
                    <a:pt x="713872" y="719800"/>
                  </a:cubicBezTo>
                  <a:cubicBezTo>
                    <a:pt x="680897" y="752775"/>
                    <a:pt x="636174" y="771300"/>
                    <a:pt x="589541" y="771300"/>
                  </a:cubicBezTo>
                  <a:lnTo>
                    <a:pt x="175830" y="771300"/>
                  </a:lnTo>
                  <a:cubicBezTo>
                    <a:pt x="129197" y="771300"/>
                    <a:pt x="84474" y="752775"/>
                    <a:pt x="51500" y="719800"/>
                  </a:cubicBezTo>
                  <a:cubicBezTo>
                    <a:pt x="18525" y="686826"/>
                    <a:pt x="0" y="642103"/>
                    <a:pt x="0" y="595470"/>
                  </a:cubicBezTo>
                  <a:lnTo>
                    <a:pt x="0" y="175830"/>
                  </a:lnTo>
                  <a:cubicBezTo>
                    <a:pt x="0" y="129197"/>
                    <a:pt x="18525" y="84474"/>
                    <a:pt x="51500" y="51500"/>
                  </a:cubicBezTo>
                  <a:cubicBezTo>
                    <a:pt x="84474" y="18525"/>
                    <a:pt x="129197" y="0"/>
                    <a:pt x="175830" y="0"/>
                  </a:cubicBezTo>
                  <a:close/>
                </a:path>
              </a:pathLst>
            </a:custGeom>
            <a:solidFill>
              <a:srgbClr val="6DCCEF"/>
            </a:solidFill>
          </p:spPr>
        </p:sp>
        <p:sp>
          <p:nvSpPr>
            <p:cNvPr name="TextBox 17" id="17"/>
            <p:cNvSpPr txBox="true"/>
            <p:nvPr/>
          </p:nvSpPr>
          <p:spPr>
            <a:xfrm>
              <a:off x="0" y="-57150"/>
              <a:ext cx="765371" cy="828450"/>
            </a:xfrm>
            <a:prstGeom prst="rect">
              <a:avLst/>
            </a:prstGeom>
          </p:spPr>
          <p:txBody>
            <a:bodyPr anchor="ctr" rtlCol="false" tIns="50800" lIns="50800" bIns="50800" rIns="50800"/>
            <a:lstStyle/>
            <a:p>
              <a:pPr algn="ctr">
                <a:lnSpc>
                  <a:spcPts val="4200"/>
                </a:lnSpc>
                <a:spcBef>
                  <a:spcPct val="0"/>
                </a:spcBef>
              </a:pPr>
              <a:r>
                <a:rPr lang="en-US" b="true" sz="3000">
                  <a:solidFill>
                    <a:srgbClr val="FFFFFF"/>
                  </a:solidFill>
                  <a:latin typeface="Montserrat Bold"/>
                  <a:ea typeface="Montserrat Bold"/>
                  <a:cs typeface="Montserrat Bold"/>
                  <a:sym typeface="Montserrat Bold"/>
                </a:rPr>
                <a:t>5.KẾT LUẬN</a:t>
              </a:r>
            </a:p>
          </p:txBody>
        </p:sp>
      </p:grpSp>
      <p:sp>
        <p:nvSpPr>
          <p:cNvPr name="TextBox 18" id="18"/>
          <p:cNvSpPr txBox="true"/>
          <p:nvPr/>
        </p:nvSpPr>
        <p:spPr>
          <a:xfrm rot="0">
            <a:off x="6532735" y="847725"/>
            <a:ext cx="5412468" cy="1552575"/>
          </a:xfrm>
          <a:prstGeom prst="rect">
            <a:avLst/>
          </a:prstGeom>
        </p:spPr>
        <p:txBody>
          <a:bodyPr anchor="t" rtlCol="false" tIns="0" lIns="0" bIns="0" rIns="0">
            <a:spAutoFit/>
          </a:bodyPr>
          <a:lstStyle/>
          <a:p>
            <a:pPr algn="l">
              <a:lnSpc>
                <a:spcPts val="12599"/>
              </a:lnSpc>
            </a:pPr>
            <a:r>
              <a:rPr lang="en-US" sz="9000" b="true">
                <a:solidFill>
                  <a:srgbClr val="000000"/>
                </a:solidFill>
                <a:latin typeface="Roboto Bold"/>
                <a:ea typeface="Roboto Bold"/>
                <a:cs typeface="Roboto Bold"/>
                <a:sym typeface="Roboto Bold"/>
              </a:rPr>
              <a:t>NỘI DUNG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3101871" y="3845482"/>
            <a:ext cx="4477241" cy="2115016"/>
          </a:xfrm>
          <a:custGeom>
            <a:avLst/>
            <a:gdLst/>
            <a:ahLst/>
            <a:cxnLst/>
            <a:rect r="r" b="b" t="t" l="l"/>
            <a:pathLst>
              <a:path h="2115016" w="4477241">
                <a:moveTo>
                  <a:pt x="0" y="0"/>
                </a:moveTo>
                <a:lnTo>
                  <a:pt x="4477242" y="0"/>
                </a:lnTo>
                <a:lnTo>
                  <a:pt x="4477242" y="2115016"/>
                </a:lnTo>
                <a:lnTo>
                  <a:pt x="0" y="2115016"/>
                </a:lnTo>
                <a:lnTo>
                  <a:pt x="0" y="0"/>
                </a:lnTo>
                <a:close/>
              </a:path>
            </a:pathLst>
          </a:custGeom>
          <a:blipFill>
            <a:blip r:embed="rId3"/>
            <a:stretch>
              <a:fillRect l="0" t="0" r="0" b="0"/>
            </a:stretch>
          </a:blipFill>
        </p:spPr>
      </p:sp>
      <p:sp>
        <p:nvSpPr>
          <p:cNvPr name="Freeform 4" id="4"/>
          <p:cNvSpPr/>
          <p:nvPr/>
        </p:nvSpPr>
        <p:spPr>
          <a:xfrm flipH="false" flipV="false" rot="0">
            <a:off x="13127998" y="1542030"/>
            <a:ext cx="4451115" cy="2303452"/>
          </a:xfrm>
          <a:custGeom>
            <a:avLst/>
            <a:gdLst/>
            <a:ahLst/>
            <a:cxnLst/>
            <a:rect r="r" b="b" t="t" l="l"/>
            <a:pathLst>
              <a:path h="2303452" w="4451115">
                <a:moveTo>
                  <a:pt x="0" y="0"/>
                </a:moveTo>
                <a:lnTo>
                  <a:pt x="4451115" y="0"/>
                </a:lnTo>
                <a:lnTo>
                  <a:pt x="4451115" y="2303452"/>
                </a:lnTo>
                <a:lnTo>
                  <a:pt x="0" y="2303452"/>
                </a:lnTo>
                <a:lnTo>
                  <a:pt x="0" y="0"/>
                </a:lnTo>
                <a:close/>
              </a:path>
            </a:pathLst>
          </a:custGeom>
          <a:blipFill>
            <a:blip r:embed="rId4"/>
            <a:stretch>
              <a:fillRect l="0" t="0" r="0" b="0"/>
            </a:stretch>
          </a:blipFill>
        </p:spPr>
      </p:sp>
      <p:sp>
        <p:nvSpPr>
          <p:cNvPr name="Freeform 5" id="5"/>
          <p:cNvSpPr/>
          <p:nvPr/>
        </p:nvSpPr>
        <p:spPr>
          <a:xfrm flipH="false" flipV="false" rot="0">
            <a:off x="1562284" y="4330973"/>
            <a:ext cx="7758970" cy="5536616"/>
          </a:xfrm>
          <a:custGeom>
            <a:avLst/>
            <a:gdLst/>
            <a:ahLst/>
            <a:cxnLst/>
            <a:rect r="r" b="b" t="t" l="l"/>
            <a:pathLst>
              <a:path h="5536616" w="7758970">
                <a:moveTo>
                  <a:pt x="0" y="0"/>
                </a:moveTo>
                <a:lnTo>
                  <a:pt x="7758970" y="0"/>
                </a:lnTo>
                <a:lnTo>
                  <a:pt x="7758970" y="5536616"/>
                </a:lnTo>
                <a:lnTo>
                  <a:pt x="0" y="5536616"/>
                </a:lnTo>
                <a:lnTo>
                  <a:pt x="0" y="0"/>
                </a:lnTo>
                <a:close/>
              </a:path>
            </a:pathLst>
          </a:custGeom>
          <a:blipFill>
            <a:blip r:embed="rId5"/>
            <a:stretch>
              <a:fillRect l="0" t="0" r="0" b="0"/>
            </a:stretch>
          </a:blipFill>
        </p:spPr>
      </p:sp>
      <p:sp>
        <p:nvSpPr>
          <p:cNvPr name="TextBox 6" id="6"/>
          <p:cNvSpPr txBox="true"/>
          <p:nvPr/>
        </p:nvSpPr>
        <p:spPr>
          <a:xfrm rot="0">
            <a:off x="410004" y="16453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7" id="7"/>
          <p:cNvSpPr txBox="true"/>
          <p:nvPr/>
        </p:nvSpPr>
        <p:spPr>
          <a:xfrm rot="0">
            <a:off x="742484" y="123097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1.1 GIỚI THIỆU VỀ SQLITE</a:t>
            </a:r>
          </a:p>
        </p:txBody>
      </p:sp>
      <p:sp>
        <p:nvSpPr>
          <p:cNvPr name="TextBox 8" id="8"/>
          <p:cNvSpPr txBox="true"/>
          <p:nvPr/>
        </p:nvSpPr>
        <p:spPr>
          <a:xfrm rot="0">
            <a:off x="410004" y="2373960"/>
            <a:ext cx="12042119" cy="1634944"/>
          </a:xfrm>
          <a:prstGeom prst="rect">
            <a:avLst/>
          </a:prstGeom>
        </p:spPr>
        <p:txBody>
          <a:bodyPr anchor="t" rtlCol="false" tIns="0" lIns="0" bIns="0" rIns="0">
            <a:spAutoFit/>
          </a:bodyPr>
          <a:lstStyle/>
          <a:p>
            <a:pPr algn="just" marL="676225" indent="-338112" lvl="1">
              <a:lnSpc>
                <a:spcPts val="4384"/>
              </a:lnSpc>
              <a:buFont typeface="Arial"/>
              <a:buChar char="•"/>
            </a:pPr>
            <a:r>
              <a:rPr lang="en-US" b="true" sz="3132">
                <a:solidFill>
                  <a:srgbClr val="000000"/>
                </a:solidFill>
                <a:latin typeface="Montserrat Semi-Bold"/>
                <a:ea typeface="Montserrat Semi-Bold"/>
                <a:cs typeface="Montserrat Semi-Bold"/>
                <a:sym typeface="Montserrat Semi-Bold"/>
              </a:rPr>
              <a:t>SQLite là một thư viện ngôn ngữ C, triển khai một công cụ cơ sở dữ liệu SQL </a:t>
            </a:r>
            <a:r>
              <a:rPr lang="en-US" b="true" sz="3132">
                <a:solidFill>
                  <a:srgbClr val="000000"/>
                </a:solidFill>
                <a:latin typeface="Montserrat Semi-Bold"/>
                <a:ea typeface="Montserrat Semi-Bold"/>
                <a:cs typeface="Montserrat Semi-Bold"/>
                <a:sym typeface="Montserrat Semi-Bold"/>
                <a:hlinkClick r:id="rId6" tooltip="https://sqlite.org/footprint.html"/>
              </a:rPr>
              <a:t>nhỏ gọn</a:t>
            </a:r>
            <a:r>
              <a:rPr lang="en-US" b="true" sz="3132">
                <a:solidFill>
                  <a:srgbClr val="000000"/>
                </a:solidFill>
                <a:latin typeface="Montserrat Semi-Bold"/>
                <a:ea typeface="Montserrat Semi-Bold"/>
                <a:cs typeface="Montserrat Semi-Bold"/>
                <a:sym typeface="Montserrat Semi-Bold"/>
              </a:rPr>
              <a:t> , </a:t>
            </a:r>
            <a:r>
              <a:rPr lang="en-US" b="true" sz="3132">
                <a:solidFill>
                  <a:srgbClr val="000000"/>
                </a:solidFill>
                <a:latin typeface="Montserrat Semi-Bold"/>
                <a:ea typeface="Montserrat Semi-Bold"/>
                <a:cs typeface="Montserrat Semi-Bold"/>
                <a:sym typeface="Montserrat Semi-Bold"/>
                <a:hlinkClick r:id="rId7" tooltip="https://sqlite.org/fasterthanfs.html"/>
              </a:rPr>
              <a:t>nhanh chóng</a:t>
            </a:r>
            <a:r>
              <a:rPr lang="en-US" b="true" sz="3132">
                <a:solidFill>
                  <a:srgbClr val="000000"/>
                </a:solidFill>
                <a:latin typeface="Montserrat Semi-Bold"/>
                <a:ea typeface="Montserrat Semi-Bold"/>
                <a:cs typeface="Montserrat Semi-Bold"/>
                <a:sym typeface="Montserrat Semi-Bold"/>
              </a:rPr>
              <a:t> , </a:t>
            </a:r>
            <a:r>
              <a:rPr lang="en-US" b="true" sz="3132">
                <a:solidFill>
                  <a:srgbClr val="000000"/>
                </a:solidFill>
                <a:latin typeface="Montserrat Semi-Bold"/>
                <a:ea typeface="Montserrat Semi-Bold"/>
                <a:cs typeface="Montserrat Semi-Bold"/>
                <a:sym typeface="Montserrat Semi-Bold"/>
                <a:hlinkClick r:id="rId8" tooltip="https://sqlite.org/selfcontained.html"/>
              </a:rPr>
              <a:t>độc lập</a:t>
            </a:r>
            <a:r>
              <a:rPr lang="en-US" b="true" sz="3132">
                <a:solidFill>
                  <a:srgbClr val="000000"/>
                </a:solidFill>
                <a:latin typeface="Montserrat Semi-Bold"/>
                <a:ea typeface="Montserrat Semi-Bold"/>
                <a:cs typeface="Montserrat Semi-Bold"/>
                <a:sym typeface="Montserrat Semi-Bold"/>
              </a:rPr>
              <a:t> , </a:t>
            </a:r>
            <a:r>
              <a:rPr lang="en-US" b="true" sz="3132">
                <a:solidFill>
                  <a:srgbClr val="000000"/>
                </a:solidFill>
                <a:latin typeface="Montserrat Semi-Bold"/>
                <a:ea typeface="Montserrat Semi-Bold"/>
                <a:cs typeface="Montserrat Semi-Bold"/>
                <a:sym typeface="Montserrat Semi-Bold"/>
                <a:hlinkClick r:id="rId9" tooltip="https://sqlite.org/hirely.html"/>
              </a:rPr>
              <a:t>độ tin cậy cao</a:t>
            </a:r>
            <a:r>
              <a:rPr lang="en-US" b="true" sz="3132">
                <a:solidFill>
                  <a:srgbClr val="000000"/>
                </a:solidFill>
                <a:latin typeface="Montserrat Semi-Bold"/>
                <a:ea typeface="Montserrat Semi-Bold"/>
                <a:cs typeface="Montserrat Semi-Bold"/>
                <a:sym typeface="Montserrat Semi-Bold"/>
              </a:rPr>
              <a:t> và </a:t>
            </a:r>
            <a:r>
              <a:rPr lang="en-US" b="true" sz="3132">
                <a:solidFill>
                  <a:srgbClr val="000000"/>
                </a:solidFill>
                <a:latin typeface="Montserrat Semi-Bold"/>
                <a:ea typeface="Montserrat Semi-Bold"/>
                <a:cs typeface="Montserrat Semi-Bold"/>
                <a:sym typeface="Montserrat Semi-Bold"/>
                <a:hlinkClick r:id="rId10" tooltip="https://sqlite.org/fullsql.html"/>
              </a:rPr>
              <a:t>đầy đủ tính năng</a:t>
            </a:r>
          </a:p>
        </p:txBody>
      </p:sp>
      <p:sp>
        <p:nvSpPr>
          <p:cNvPr name="TextBox 9" id="9"/>
          <p:cNvSpPr txBox="true"/>
          <p:nvPr/>
        </p:nvSpPr>
        <p:spPr>
          <a:xfrm rot="0">
            <a:off x="9746601" y="6793502"/>
            <a:ext cx="6710541" cy="2464798"/>
          </a:xfrm>
          <a:prstGeom prst="rect">
            <a:avLst/>
          </a:prstGeom>
        </p:spPr>
        <p:txBody>
          <a:bodyPr anchor="t" rtlCol="false" tIns="0" lIns="0" bIns="0" rIns="0">
            <a:spAutoFit/>
          </a:bodyPr>
          <a:lstStyle/>
          <a:p>
            <a:pPr algn="just">
              <a:lnSpc>
                <a:spcPts val="3942"/>
              </a:lnSpc>
            </a:pPr>
            <a:r>
              <a:rPr lang="en-US" b="true" sz="2816">
                <a:solidFill>
                  <a:srgbClr val="000000"/>
                </a:solidFill>
                <a:latin typeface="Montserrat Semi-Bold"/>
                <a:ea typeface="Montserrat Semi-Bold"/>
                <a:cs typeface="Montserrat Semi-Bold"/>
                <a:sym typeface="Montserrat Semi-Bold"/>
              </a:rPr>
              <a:t>Biểu đồ 1. Độ trễ đọc SQLite so với các lần đọc hệ thống tệp trực tiếp.100K hình  trung bình 10KB mỗi hình thứ tự ngẫu nhiên khi sử dụng sqlite3_blob_read().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375747" y="6471936"/>
            <a:ext cx="5916103" cy="3182308"/>
          </a:xfrm>
          <a:custGeom>
            <a:avLst/>
            <a:gdLst/>
            <a:ahLst/>
            <a:cxnLst/>
            <a:rect r="r" b="b" t="t" l="l"/>
            <a:pathLst>
              <a:path h="3182308" w="5916103">
                <a:moveTo>
                  <a:pt x="0" y="0"/>
                </a:moveTo>
                <a:lnTo>
                  <a:pt x="5916103" y="0"/>
                </a:lnTo>
                <a:lnTo>
                  <a:pt x="5916103" y="3182308"/>
                </a:lnTo>
                <a:lnTo>
                  <a:pt x="0" y="3182308"/>
                </a:lnTo>
                <a:lnTo>
                  <a:pt x="0" y="0"/>
                </a:lnTo>
                <a:close/>
              </a:path>
            </a:pathLst>
          </a:custGeom>
          <a:blipFill>
            <a:blip r:embed="rId3"/>
            <a:stretch>
              <a:fillRect l="0" t="0" r="0" b="0"/>
            </a:stretch>
          </a:blipFill>
        </p:spPr>
      </p:sp>
      <p:sp>
        <p:nvSpPr>
          <p:cNvPr name="TextBox 4" id="4"/>
          <p:cNvSpPr txBox="true"/>
          <p:nvPr/>
        </p:nvSpPr>
        <p:spPr>
          <a:xfrm rot="0">
            <a:off x="410004" y="2364435"/>
            <a:ext cx="16849296" cy="3636383"/>
          </a:xfrm>
          <a:prstGeom prst="rect">
            <a:avLst/>
          </a:prstGeom>
        </p:spPr>
        <p:txBody>
          <a:bodyPr anchor="t" rtlCol="false" tIns="0" lIns="0" bIns="0" rIns="0">
            <a:spAutoFit/>
          </a:bodyPr>
          <a:lstStyle/>
          <a:p>
            <a:pPr algn="just" marL="747083" indent="-373542" lvl="1">
              <a:lnSpc>
                <a:spcPts val="4844"/>
              </a:lnSpc>
              <a:buFont typeface="Arial"/>
              <a:buChar char="•"/>
            </a:pPr>
            <a:r>
              <a:rPr lang="en-US" b="true" sz="3460">
                <a:solidFill>
                  <a:srgbClr val="000000"/>
                </a:solidFill>
                <a:latin typeface="Montserrat Bold"/>
                <a:ea typeface="Montserrat Bold"/>
                <a:cs typeface="Montserrat Bold"/>
                <a:sym typeface="Montserrat Bold"/>
              </a:rPr>
              <a:t>SQLite là một thư viện đang được phát triển, triển khai một công cụ cơ sở dữ liệu </a:t>
            </a:r>
            <a:r>
              <a:rPr lang="en-US" b="true" sz="3460">
                <a:solidFill>
                  <a:srgbClr val="000000"/>
                </a:solidFill>
                <a:latin typeface="Montserrat Bold"/>
                <a:ea typeface="Montserrat Bold"/>
                <a:cs typeface="Montserrat Bold"/>
                <a:sym typeface="Montserrat Bold"/>
                <a:hlinkClick r:id="rId4" tooltip="https://sqlite.org/selfcontained.html"/>
              </a:rPr>
              <a:t>không </a:t>
            </a:r>
            <a:r>
              <a:rPr lang="en-US" b="true" sz="3460">
                <a:solidFill>
                  <a:srgbClr val="000000"/>
                </a:solidFill>
                <a:latin typeface="Montserrat Bold"/>
                <a:ea typeface="Montserrat Bold"/>
                <a:cs typeface="Montserrat Bold"/>
                <a:sym typeface="Montserrat Bold"/>
                <a:hlinkClick r:id="rId5" tooltip="https://sqlite.org/serverless.html"/>
              </a:rPr>
              <a:t>cần máy </a:t>
            </a:r>
            <a:r>
              <a:rPr lang="en-US" b="true" sz="3460">
                <a:solidFill>
                  <a:srgbClr val="000000"/>
                </a:solidFill>
                <a:latin typeface="Montserrat Bold"/>
                <a:ea typeface="Montserrat Bold"/>
                <a:cs typeface="Montserrat Bold"/>
                <a:sym typeface="Montserrat Bold"/>
              </a:rPr>
              <a:t>chủ, có sẵn trong Android &amp; iOS,  </a:t>
            </a:r>
            <a:r>
              <a:rPr lang="en-US" b="true" sz="3460">
                <a:solidFill>
                  <a:srgbClr val="000000"/>
                </a:solidFill>
                <a:latin typeface="Montserrat Bold"/>
                <a:ea typeface="Montserrat Bold"/>
                <a:cs typeface="Montserrat Bold"/>
                <a:sym typeface="Montserrat Bold"/>
                <a:hlinkClick r:id="rId6" tooltip="https://sqlite.org/zeroconf.html"/>
              </a:rPr>
              <a:t>không cần cấu hình</a:t>
            </a:r>
            <a:r>
              <a:rPr lang="en-US" b="true" sz="3460">
                <a:solidFill>
                  <a:srgbClr val="000000"/>
                </a:solidFill>
                <a:latin typeface="Montserrat Bold"/>
                <a:ea typeface="Montserrat Bold"/>
                <a:cs typeface="Montserrat Bold"/>
                <a:sym typeface="Montserrat Bold"/>
              </a:rPr>
              <a:t> và mã nguồn mở.</a:t>
            </a:r>
          </a:p>
          <a:p>
            <a:pPr algn="just" marL="747083" indent="-373542" lvl="1">
              <a:lnSpc>
                <a:spcPts val="4844"/>
              </a:lnSpc>
              <a:buFont typeface="Arial"/>
              <a:buChar char="•"/>
            </a:pPr>
            <a:r>
              <a:rPr lang="en-US" b="true" sz="3460">
                <a:solidFill>
                  <a:srgbClr val="000000"/>
                </a:solidFill>
                <a:latin typeface="Montserrat Bold"/>
                <a:ea typeface="Montserrat Bold"/>
                <a:cs typeface="Montserrat Bold"/>
                <a:sym typeface="Montserrat Bold"/>
              </a:rPr>
              <a:t>SQLite là một cơ sở dữ liệu quan hệ nhúng, mạnh mẽ để lưu trữ dữ liệu có cấu trúc dạng bảng. Tuân theo chuẩn SQL92 =&gt; viết các câu lệnh SQL thuần túy.</a:t>
            </a:r>
          </a:p>
        </p:txBody>
      </p:sp>
      <p:sp>
        <p:nvSpPr>
          <p:cNvPr name="Freeform 5" id="5"/>
          <p:cNvSpPr/>
          <p:nvPr/>
        </p:nvSpPr>
        <p:spPr>
          <a:xfrm flipH="false" flipV="false" rot="0">
            <a:off x="9382641" y="7220017"/>
            <a:ext cx="8281756" cy="1506925"/>
          </a:xfrm>
          <a:custGeom>
            <a:avLst/>
            <a:gdLst/>
            <a:ahLst/>
            <a:cxnLst/>
            <a:rect r="r" b="b" t="t" l="l"/>
            <a:pathLst>
              <a:path h="1506925" w="8281756">
                <a:moveTo>
                  <a:pt x="0" y="0"/>
                </a:moveTo>
                <a:lnTo>
                  <a:pt x="8281756" y="0"/>
                </a:lnTo>
                <a:lnTo>
                  <a:pt x="8281756" y="1506926"/>
                </a:lnTo>
                <a:lnTo>
                  <a:pt x="0" y="1506926"/>
                </a:lnTo>
                <a:lnTo>
                  <a:pt x="0" y="0"/>
                </a:lnTo>
                <a:close/>
              </a:path>
            </a:pathLst>
          </a:custGeom>
          <a:blipFill>
            <a:blip r:embed="rId7"/>
            <a:stretch>
              <a:fillRect l="0" t="0" r="0" b="0"/>
            </a:stretch>
          </a:blipFill>
        </p:spPr>
      </p:sp>
      <p:sp>
        <p:nvSpPr>
          <p:cNvPr name="TextBox 6" id="6"/>
          <p:cNvSpPr txBox="true"/>
          <p:nvPr/>
        </p:nvSpPr>
        <p:spPr>
          <a:xfrm rot="0">
            <a:off x="410004" y="16453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7" id="7"/>
          <p:cNvSpPr txBox="true"/>
          <p:nvPr/>
        </p:nvSpPr>
        <p:spPr>
          <a:xfrm rot="0">
            <a:off x="742484" y="123097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1.1 GIỚI THIỆU VỀ SQLITE</a:t>
            </a:r>
          </a:p>
        </p:txBody>
      </p:sp>
      <p:sp>
        <p:nvSpPr>
          <p:cNvPr name="TextBox 8" id="8"/>
          <p:cNvSpPr txBox="true"/>
          <p:nvPr/>
        </p:nvSpPr>
        <p:spPr>
          <a:xfrm rot="0">
            <a:off x="8501932" y="7474707"/>
            <a:ext cx="642068" cy="588383"/>
          </a:xfrm>
          <a:prstGeom prst="rect">
            <a:avLst/>
          </a:prstGeom>
        </p:spPr>
        <p:txBody>
          <a:bodyPr anchor="t" rtlCol="false" tIns="0" lIns="0" bIns="0" rIns="0">
            <a:spAutoFit/>
          </a:bodyPr>
          <a:lstStyle/>
          <a:p>
            <a:pPr algn="just">
              <a:lnSpc>
                <a:spcPts val="4844"/>
              </a:lnSpc>
            </a:pPr>
            <a:r>
              <a:rPr lang="en-US" b="true" sz="3460">
                <a:solidFill>
                  <a:srgbClr val="000000"/>
                </a:solidFill>
                <a:latin typeface="Montserrat Bold"/>
                <a:ea typeface="Montserrat Bold"/>
                <a:cs typeface="Montserrat Bold"/>
                <a:sym typeface="Montserrat Bold"/>
              </a:rPr>
              <a:t>=&gt;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959492" y="3325568"/>
            <a:ext cx="9345140" cy="2801937"/>
          </a:xfrm>
          <a:custGeom>
            <a:avLst/>
            <a:gdLst/>
            <a:ahLst/>
            <a:cxnLst/>
            <a:rect r="r" b="b" t="t" l="l"/>
            <a:pathLst>
              <a:path h="2801937" w="9345140">
                <a:moveTo>
                  <a:pt x="0" y="0"/>
                </a:moveTo>
                <a:lnTo>
                  <a:pt x="9345140" y="0"/>
                </a:lnTo>
                <a:lnTo>
                  <a:pt x="9345140" y="2801938"/>
                </a:lnTo>
                <a:lnTo>
                  <a:pt x="0" y="2801938"/>
                </a:lnTo>
                <a:lnTo>
                  <a:pt x="0" y="0"/>
                </a:lnTo>
                <a:close/>
              </a:path>
            </a:pathLst>
          </a:custGeom>
          <a:blipFill>
            <a:blip r:embed="rId3"/>
            <a:stretch>
              <a:fillRect l="-3833" t="-21977" r="-1883" b="-10176"/>
            </a:stretch>
          </a:blipFill>
        </p:spPr>
      </p:sp>
      <p:sp>
        <p:nvSpPr>
          <p:cNvPr name="TextBox 4" id="4"/>
          <p:cNvSpPr txBox="true"/>
          <p:nvPr/>
        </p:nvSpPr>
        <p:spPr>
          <a:xfrm rot="0">
            <a:off x="410004" y="16453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1230970"/>
            <a:ext cx="14484014"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1.2 KIẾN TRÚC SQLITE TRONG FLUTTER</a:t>
            </a:r>
          </a:p>
        </p:txBody>
      </p:sp>
      <p:sp>
        <p:nvSpPr>
          <p:cNvPr name="TextBox 6" id="6"/>
          <p:cNvSpPr txBox="true"/>
          <p:nvPr/>
        </p:nvSpPr>
        <p:spPr>
          <a:xfrm rot="0">
            <a:off x="410004" y="2364435"/>
            <a:ext cx="11266806" cy="588383"/>
          </a:xfrm>
          <a:prstGeom prst="rect">
            <a:avLst/>
          </a:prstGeom>
        </p:spPr>
        <p:txBody>
          <a:bodyPr anchor="t" rtlCol="false" tIns="0" lIns="0" bIns="0" rIns="0">
            <a:spAutoFit/>
          </a:bodyPr>
          <a:lstStyle/>
          <a:p>
            <a:pPr algn="just" marL="747083" indent="-373542" lvl="1">
              <a:lnSpc>
                <a:spcPts val="4844"/>
              </a:lnSpc>
              <a:buFont typeface="Arial"/>
              <a:buChar char="•"/>
            </a:pPr>
            <a:r>
              <a:rPr lang="en-US" b="true" sz="3460">
                <a:solidFill>
                  <a:srgbClr val="000000"/>
                </a:solidFill>
                <a:latin typeface="Montserrat Bold"/>
                <a:ea typeface="Montserrat Bold"/>
                <a:cs typeface="Montserrat Bold"/>
                <a:sym typeface="Montserrat Bold"/>
              </a:rPr>
              <a:t>F</a:t>
            </a:r>
            <a:r>
              <a:rPr lang="en-US" b="true" sz="3460">
                <a:solidFill>
                  <a:srgbClr val="000000"/>
                </a:solidFill>
                <a:latin typeface="Montserrat Bold"/>
                <a:ea typeface="Montserrat Bold"/>
                <a:cs typeface="Montserrat Bold"/>
                <a:sym typeface="Montserrat Bold"/>
              </a:rPr>
              <a:t>lutter App → sqflite package → SQLite engine</a:t>
            </a:r>
          </a:p>
        </p:txBody>
      </p:sp>
      <p:sp>
        <p:nvSpPr>
          <p:cNvPr name="TextBox 7" id="7"/>
          <p:cNvSpPr txBox="true"/>
          <p:nvPr/>
        </p:nvSpPr>
        <p:spPr>
          <a:xfrm rot="0">
            <a:off x="410004" y="6433581"/>
            <a:ext cx="16444115" cy="3026783"/>
          </a:xfrm>
          <a:prstGeom prst="rect">
            <a:avLst/>
          </a:prstGeom>
        </p:spPr>
        <p:txBody>
          <a:bodyPr anchor="t" rtlCol="false" tIns="0" lIns="0" bIns="0" rIns="0">
            <a:spAutoFit/>
          </a:bodyPr>
          <a:lstStyle/>
          <a:p>
            <a:pPr algn="just" marL="747083" indent="-373542" lvl="1">
              <a:lnSpc>
                <a:spcPts val="4844"/>
              </a:lnSpc>
              <a:buFont typeface="Arial"/>
              <a:buChar char="•"/>
            </a:pPr>
            <a:r>
              <a:rPr lang="en-US" b="true" sz="3460">
                <a:solidFill>
                  <a:srgbClr val="000000"/>
                </a:solidFill>
                <a:latin typeface="Montserrat Bold"/>
                <a:ea typeface="Montserrat Bold"/>
                <a:cs typeface="Montserrat Bold"/>
                <a:sym typeface="Montserrat Bold"/>
              </a:rPr>
              <a:t>F</a:t>
            </a:r>
            <a:r>
              <a:rPr lang="en-US" b="true" sz="3460">
                <a:solidFill>
                  <a:srgbClr val="000000"/>
                </a:solidFill>
                <a:latin typeface="Montserrat Bold"/>
                <a:ea typeface="Montserrat Bold"/>
                <a:cs typeface="Montserrat Bold"/>
                <a:sym typeface="Montserrat Bold"/>
              </a:rPr>
              <a:t>lutter App: phần logic &amp; giao diện, viết bằng Dart</a:t>
            </a:r>
          </a:p>
          <a:p>
            <a:pPr algn="just" marL="747083" indent="-373542" lvl="1">
              <a:lnSpc>
                <a:spcPts val="4844"/>
              </a:lnSpc>
              <a:buFont typeface="Arial"/>
              <a:buChar char="•"/>
            </a:pPr>
            <a:r>
              <a:rPr lang="en-US" b="true" sz="3460">
                <a:solidFill>
                  <a:srgbClr val="000000"/>
                </a:solidFill>
                <a:latin typeface="Montserrat Bold"/>
                <a:ea typeface="Montserrat Bold"/>
                <a:cs typeface="Montserrat Bold"/>
                <a:sym typeface="Montserrat Bold"/>
              </a:rPr>
              <a:t>sqflite package: plugin trung gian giúp Flutter giao tiếp với SQLite thật</a:t>
            </a:r>
          </a:p>
          <a:p>
            <a:pPr algn="just" marL="747083" indent="-373542" lvl="1">
              <a:lnSpc>
                <a:spcPts val="4844"/>
              </a:lnSpc>
              <a:buFont typeface="Arial"/>
              <a:buChar char="•"/>
            </a:pPr>
            <a:r>
              <a:rPr lang="en-US" b="true" sz="3460">
                <a:solidFill>
                  <a:srgbClr val="000000"/>
                </a:solidFill>
                <a:latin typeface="Montserrat Bold"/>
                <a:ea typeface="Montserrat Bold"/>
                <a:cs typeface="Montserrat Bold"/>
                <a:sym typeface="Montserrat Bold"/>
              </a:rPr>
              <a:t>SQLite engine: hệ quản trị CSDL gốc (C) lưu dữ liệu trong file .db trên thiết bị</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793227" y="4619391"/>
            <a:ext cx="4028615" cy="2723971"/>
          </a:xfrm>
          <a:custGeom>
            <a:avLst/>
            <a:gdLst/>
            <a:ahLst/>
            <a:cxnLst/>
            <a:rect r="r" b="b" t="t" l="l"/>
            <a:pathLst>
              <a:path h="2723971" w="4028615">
                <a:moveTo>
                  <a:pt x="0" y="0"/>
                </a:moveTo>
                <a:lnTo>
                  <a:pt x="4028615" y="0"/>
                </a:lnTo>
                <a:lnTo>
                  <a:pt x="4028615" y="2723971"/>
                </a:lnTo>
                <a:lnTo>
                  <a:pt x="0" y="2723971"/>
                </a:lnTo>
                <a:lnTo>
                  <a:pt x="0" y="0"/>
                </a:lnTo>
                <a:close/>
              </a:path>
            </a:pathLst>
          </a:custGeom>
          <a:blipFill>
            <a:blip r:embed="rId3"/>
            <a:stretch>
              <a:fillRect l="0" t="0" r="-22007" b="-4822"/>
            </a:stretch>
          </a:blipFill>
        </p:spPr>
      </p:sp>
      <p:sp>
        <p:nvSpPr>
          <p:cNvPr name="TextBox 4" id="4"/>
          <p:cNvSpPr txBox="true"/>
          <p:nvPr/>
        </p:nvSpPr>
        <p:spPr>
          <a:xfrm rot="0">
            <a:off x="410004" y="16453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1230970"/>
            <a:ext cx="14484014"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1.3 CẤU HÌNH VÀ THIẾT LẬP SQLITE</a:t>
            </a:r>
          </a:p>
        </p:txBody>
      </p:sp>
      <p:sp>
        <p:nvSpPr>
          <p:cNvPr name="TextBox 6" id="6"/>
          <p:cNvSpPr txBox="true"/>
          <p:nvPr/>
        </p:nvSpPr>
        <p:spPr>
          <a:xfrm rot="0">
            <a:off x="2262154" y="2212035"/>
            <a:ext cx="12750741" cy="1304663"/>
          </a:xfrm>
          <a:prstGeom prst="rect">
            <a:avLst/>
          </a:prstGeom>
        </p:spPr>
        <p:txBody>
          <a:bodyPr anchor="t" rtlCol="false" tIns="0" lIns="0" bIns="0" rIns="0">
            <a:spAutoFit/>
          </a:bodyPr>
          <a:lstStyle/>
          <a:p>
            <a:pPr algn="just" marL="811851" indent="-405926" lvl="1">
              <a:lnSpc>
                <a:spcPts val="5264"/>
              </a:lnSpc>
              <a:buFont typeface="Arial"/>
              <a:buChar char="•"/>
            </a:pPr>
            <a:r>
              <a:rPr lang="en-US" b="true" sz="3760">
                <a:solidFill>
                  <a:srgbClr val="000000"/>
                </a:solidFill>
                <a:latin typeface="Montserrat Bold"/>
                <a:ea typeface="Montserrat Bold"/>
                <a:cs typeface="Montserrat Bold"/>
                <a:sym typeface="Montserrat Bold"/>
              </a:rPr>
              <a:t>B1: Vào </a:t>
            </a:r>
            <a:r>
              <a:rPr lang="en-US" b="true" sz="3760" i="true" u="sng">
                <a:solidFill>
                  <a:srgbClr val="000000"/>
                </a:solidFill>
                <a:latin typeface="Montserrat Bold Italics"/>
                <a:ea typeface="Montserrat Bold Italics"/>
                <a:cs typeface="Montserrat Bold Italics"/>
                <a:sym typeface="Montserrat Bold Italics"/>
                <a:hlinkClick r:id="rId4" tooltip="https://pub.dev/packages/sqflite/install"/>
              </a:rPr>
              <a:t>https://pub.dev/packages/sqflite/install</a:t>
            </a:r>
            <a:r>
              <a:rPr lang="en-US" sz="3760">
                <a:solidFill>
                  <a:srgbClr val="000000"/>
                </a:solidFill>
                <a:latin typeface="Montserrat"/>
                <a:ea typeface="Montserrat"/>
                <a:cs typeface="Montserrat"/>
                <a:sym typeface="Montserrat"/>
              </a:rPr>
              <a:t> </a:t>
            </a:r>
          </a:p>
          <a:p>
            <a:pPr algn="just">
              <a:lnSpc>
                <a:spcPts val="5264"/>
              </a:lnSpc>
            </a:pPr>
            <a:r>
              <a:rPr lang="en-US" sz="3760">
                <a:solidFill>
                  <a:srgbClr val="000000"/>
                </a:solidFill>
                <a:latin typeface="Montserrat"/>
                <a:ea typeface="Montserrat"/>
                <a:cs typeface="Montserrat"/>
                <a:sym typeface="Montserrat"/>
              </a:rPr>
              <a:t>             </a:t>
            </a:r>
            <a:r>
              <a:rPr lang="en-US" b="true" sz="3760" i="true">
                <a:solidFill>
                  <a:srgbClr val="000000"/>
                </a:solidFill>
                <a:latin typeface="Montserrat Bold Italics"/>
                <a:ea typeface="Montserrat Bold Italics"/>
                <a:cs typeface="Montserrat Bold Italics"/>
                <a:sym typeface="Montserrat Bold Italics"/>
              </a:rPr>
              <a:t>và </a:t>
            </a:r>
            <a:r>
              <a:rPr lang="en-US" b="true" sz="3760" i="true" u="sng">
                <a:solidFill>
                  <a:srgbClr val="000000"/>
                </a:solidFill>
                <a:latin typeface="Montserrat Bold Italics"/>
                <a:ea typeface="Montserrat Bold Italics"/>
                <a:cs typeface="Montserrat Bold Italics"/>
                <a:sym typeface="Montserrat Bold Italics"/>
                <a:hlinkClick r:id="rId5" tooltip="https://pub.dev/packages/path/install"/>
              </a:rPr>
              <a:t>https://pub.dev/packages/path/install</a:t>
            </a:r>
          </a:p>
        </p:txBody>
      </p:sp>
      <p:sp>
        <p:nvSpPr>
          <p:cNvPr name="TextBox 7" id="7"/>
          <p:cNvSpPr txBox="true"/>
          <p:nvPr/>
        </p:nvSpPr>
        <p:spPr>
          <a:xfrm rot="0">
            <a:off x="2262154" y="3714778"/>
            <a:ext cx="12750741" cy="637913"/>
          </a:xfrm>
          <a:prstGeom prst="rect">
            <a:avLst/>
          </a:prstGeom>
        </p:spPr>
        <p:txBody>
          <a:bodyPr anchor="t" rtlCol="false" tIns="0" lIns="0" bIns="0" rIns="0">
            <a:spAutoFit/>
          </a:bodyPr>
          <a:lstStyle/>
          <a:p>
            <a:pPr algn="just" marL="811851" indent="-405926" lvl="1">
              <a:lnSpc>
                <a:spcPts val="5264"/>
              </a:lnSpc>
              <a:buFont typeface="Arial"/>
              <a:buChar char="•"/>
            </a:pPr>
            <a:r>
              <a:rPr lang="en-US" b="true" sz="3760">
                <a:solidFill>
                  <a:srgbClr val="000000"/>
                </a:solidFill>
                <a:latin typeface="Montserrat Bold"/>
                <a:ea typeface="Montserrat Bold"/>
                <a:cs typeface="Montserrat Bold"/>
                <a:sym typeface="Montserrat Bold"/>
              </a:rPr>
              <a:t>B2: Copy vào file pubspec.yaml như trên</a:t>
            </a:r>
          </a:p>
        </p:txBody>
      </p:sp>
      <p:sp>
        <p:nvSpPr>
          <p:cNvPr name="TextBox 8" id="8"/>
          <p:cNvSpPr txBox="true"/>
          <p:nvPr/>
        </p:nvSpPr>
        <p:spPr>
          <a:xfrm rot="0">
            <a:off x="2262154" y="7922442"/>
            <a:ext cx="13763692" cy="1304663"/>
          </a:xfrm>
          <a:prstGeom prst="rect">
            <a:avLst/>
          </a:prstGeom>
        </p:spPr>
        <p:txBody>
          <a:bodyPr anchor="t" rtlCol="false" tIns="0" lIns="0" bIns="0" rIns="0">
            <a:spAutoFit/>
          </a:bodyPr>
          <a:lstStyle/>
          <a:p>
            <a:pPr algn="just" marL="811851" indent="-405926" lvl="1">
              <a:lnSpc>
                <a:spcPts val="5264"/>
              </a:lnSpc>
              <a:buFont typeface="Arial"/>
              <a:buChar char="•"/>
            </a:pPr>
            <a:r>
              <a:rPr lang="en-US" b="true" sz="3760">
                <a:solidFill>
                  <a:srgbClr val="000000"/>
                </a:solidFill>
                <a:latin typeface="Montserrat Bold"/>
                <a:ea typeface="Montserrat Bold"/>
                <a:cs typeface="Montserrat Bold"/>
                <a:sym typeface="Montserrat Bold"/>
              </a:rPr>
              <a:t>B3: Bấm pub get góc trên bên phải màn hình file pubspec.yaml để install 2 thư viện đó.</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3690524" y="4221548"/>
            <a:ext cx="10695634" cy="1165680"/>
          </a:xfrm>
          <a:custGeom>
            <a:avLst/>
            <a:gdLst/>
            <a:ahLst/>
            <a:cxnLst/>
            <a:rect r="r" b="b" t="t" l="l"/>
            <a:pathLst>
              <a:path h="1165680" w="10695634">
                <a:moveTo>
                  <a:pt x="0" y="0"/>
                </a:moveTo>
                <a:lnTo>
                  <a:pt x="10695633" y="0"/>
                </a:lnTo>
                <a:lnTo>
                  <a:pt x="10695633" y="1165680"/>
                </a:lnTo>
                <a:lnTo>
                  <a:pt x="0" y="1165680"/>
                </a:lnTo>
                <a:lnTo>
                  <a:pt x="0" y="0"/>
                </a:lnTo>
                <a:close/>
              </a:path>
            </a:pathLst>
          </a:custGeom>
          <a:blipFill>
            <a:blip r:embed="rId2"/>
            <a:stretch>
              <a:fillRect l="0" t="0" r="-6261" b="0"/>
            </a:stretch>
          </a:blipFill>
        </p:spPr>
      </p:sp>
      <p:sp>
        <p:nvSpPr>
          <p:cNvPr name="Freeform 3" id="3"/>
          <p:cNvSpPr/>
          <p:nvPr/>
        </p:nvSpPr>
        <p:spPr>
          <a:xfrm flipH="false" flipV="false" rot="0">
            <a:off x="3690524" y="6115050"/>
            <a:ext cx="10483173" cy="1325459"/>
          </a:xfrm>
          <a:custGeom>
            <a:avLst/>
            <a:gdLst/>
            <a:ahLst/>
            <a:cxnLst/>
            <a:rect r="r" b="b" t="t" l="l"/>
            <a:pathLst>
              <a:path h="1325459" w="10483173">
                <a:moveTo>
                  <a:pt x="0" y="0"/>
                </a:moveTo>
                <a:lnTo>
                  <a:pt x="10483172" y="0"/>
                </a:lnTo>
                <a:lnTo>
                  <a:pt x="10483172" y="1325459"/>
                </a:lnTo>
                <a:lnTo>
                  <a:pt x="0" y="1325459"/>
                </a:lnTo>
                <a:lnTo>
                  <a:pt x="0" y="0"/>
                </a:lnTo>
                <a:close/>
              </a:path>
            </a:pathLst>
          </a:custGeom>
          <a:blipFill>
            <a:blip r:embed="rId3"/>
            <a:stretch>
              <a:fillRect l="0" t="0" r="0" b="0"/>
            </a:stretch>
          </a:blipFill>
        </p:spPr>
      </p:sp>
      <p:sp>
        <p:nvSpPr>
          <p:cNvPr name="TextBox 4" id="4"/>
          <p:cNvSpPr txBox="true"/>
          <p:nvPr/>
        </p:nvSpPr>
        <p:spPr>
          <a:xfrm rot="0">
            <a:off x="410004" y="16453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1230970"/>
            <a:ext cx="14484014"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1.3 CẤU HÌNH VÀ THIẾT LẬP SQLITE</a:t>
            </a:r>
          </a:p>
        </p:txBody>
      </p:sp>
      <p:sp>
        <p:nvSpPr>
          <p:cNvPr name="TextBox 6" id="6"/>
          <p:cNvSpPr txBox="true"/>
          <p:nvPr/>
        </p:nvSpPr>
        <p:spPr>
          <a:xfrm rot="0">
            <a:off x="2464744" y="2364435"/>
            <a:ext cx="13763692" cy="637913"/>
          </a:xfrm>
          <a:prstGeom prst="rect">
            <a:avLst/>
          </a:prstGeom>
        </p:spPr>
        <p:txBody>
          <a:bodyPr anchor="t" rtlCol="false" tIns="0" lIns="0" bIns="0" rIns="0">
            <a:spAutoFit/>
          </a:bodyPr>
          <a:lstStyle/>
          <a:p>
            <a:pPr algn="just" marL="811851" indent="-405926" lvl="1">
              <a:lnSpc>
                <a:spcPts val="5264"/>
              </a:lnSpc>
              <a:buFont typeface="Arial"/>
              <a:buChar char="•"/>
            </a:pPr>
            <a:r>
              <a:rPr lang="en-US" b="true" sz="3760">
                <a:solidFill>
                  <a:srgbClr val="000000"/>
                </a:solidFill>
                <a:latin typeface="Montserrat Bold"/>
                <a:ea typeface="Montserrat Bold"/>
                <a:cs typeface="Montserrat Bold"/>
                <a:sym typeface="Montserrat Bold"/>
              </a:rPr>
              <a:t>B4: Gọi thư viện: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825594" y="2045472"/>
            <a:ext cx="9372393" cy="3165943"/>
          </a:xfrm>
          <a:custGeom>
            <a:avLst/>
            <a:gdLst/>
            <a:ahLst/>
            <a:cxnLst/>
            <a:rect r="r" b="b" t="t" l="l"/>
            <a:pathLst>
              <a:path h="3165943" w="9372393">
                <a:moveTo>
                  <a:pt x="0" y="0"/>
                </a:moveTo>
                <a:lnTo>
                  <a:pt x="9372394" y="0"/>
                </a:lnTo>
                <a:lnTo>
                  <a:pt x="9372394" y="3165943"/>
                </a:lnTo>
                <a:lnTo>
                  <a:pt x="0" y="3165943"/>
                </a:lnTo>
                <a:lnTo>
                  <a:pt x="0" y="0"/>
                </a:lnTo>
                <a:close/>
              </a:path>
            </a:pathLst>
          </a:custGeom>
          <a:blipFill>
            <a:blip r:embed="rId2"/>
            <a:stretch>
              <a:fillRect l="0" t="0" r="-7429" b="0"/>
            </a:stretch>
          </a:blipFill>
        </p:spPr>
      </p:sp>
      <p:sp>
        <p:nvSpPr>
          <p:cNvPr name="Freeform 3" id="3"/>
          <p:cNvSpPr/>
          <p:nvPr/>
        </p:nvSpPr>
        <p:spPr>
          <a:xfrm flipH="false" flipV="false" rot="0">
            <a:off x="425272" y="6389540"/>
            <a:ext cx="5739932" cy="2598882"/>
          </a:xfrm>
          <a:custGeom>
            <a:avLst/>
            <a:gdLst/>
            <a:ahLst/>
            <a:cxnLst/>
            <a:rect r="r" b="b" t="t" l="l"/>
            <a:pathLst>
              <a:path h="2598882" w="5739932">
                <a:moveTo>
                  <a:pt x="0" y="0"/>
                </a:moveTo>
                <a:lnTo>
                  <a:pt x="5739932" y="0"/>
                </a:lnTo>
                <a:lnTo>
                  <a:pt x="5739932" y="2598881"/>
                </a:lnTo>
                <a:lnTo>
                  <a:pt x="0" y="2598881"/>
                </a:lnTo>
                <a:lnTo>
                  <a:pt x="0" y="0"/>
                </a:lnTo>
                <a:close/>
              </a:path>
            </a:pathLst>
          </a:custGeom>
          <a:blipFill>
            <a:blip r:embed="rId3"/>
            <a:stretch>
              <a:fillRect l="0" t="0" r="-3871" b="0"/>
            </a:stretch>
          </a:blipFill>
        </p:spPr>
      </p:sp>
      <p:sp>
        <p:nvSpPr>
          <p:cNvPr name="Freeform 4" id="4"/>
          <p:cNvSpPr/>
          <p:nvPr/>
        </p:nvSpPr>
        <p:spPr>
          <a:xfrm flipH="false" flipV="false" rot="0">
            <a:off x="6367794" y="6689599"/>
            <a:ext cx="5554976" cy="1998763"/>
          </a:xfrm>
          <a:custGeom>
            <a:avLst/>
            <a:gdLst/>
            <a:ahLst/>
            <a:cxnLst/>
            <a:rect r="r" b="b" t="t" l="l"/>
            <a:pathLst>
              <a:path h="1998763" w="5554976">
                <a:moveTo>
                  <a:pt x="0" y="0"/>
                </a:moveTo>
                <a:lnTo>
                  <a:pt x="5554977" y="0"/>
                </a:lnTo>
                <a:lnTo>
                  <a:pt x="5554977" y="1998763"/>
                </a:lnTo>
                <a:lnTo>
                  <a:pt x="0" y="1998763"/>
                </a:lnTo>
                <a:lnTo>
                  <a:pt x="0" y="0"/>
                </a:lnTo>
                <a:close/>
              </a:path>
            </a:pathLst>
          </a:custGeom>
          <a:blipFill>
            <a:blip r:embed="rId4"/>
            <a:stretch>
              <a:fillRect l="0" t="-4697" r="0" b="-4697"/>
            </a:stretch>
          </a:blipFill>
        </p:spPr>
      </p:sp>
      <p:sp>
        <p:nvSpPr>
          <p:cNvPr name="Freeform 5" id="5"/>
          <p:cNvSpPr/>
          <p:nvPr/>
        </p:nvSpPr>
        <p:spPr>
          <a:xfrm flipH="false" flipV="false" rot="0">
            <a:off x="12122796" y="7182889"/>
            <a:ext cx="5739932" cy="1062459"/>
          </a:xfrm>
          <a:custGeom>
            <a:avLst/>
            <a:gdLst/>
            <a:ahLst/>
            <a:cxnLst/>
            <a:rect r="r" b="b" t="t" l="l"/>
            <a:pathLst>
              <a:path h="1062459" w="5739932">
                <a:moveTo>
                  <a:pt x="0" y="0"/>
                </a:moveTo>
                <a:lnTo>
                  <a:pt x="5739932" y="0"/>
                </a:lnTo>
                <a:lnTo>
                  <a:pt x="5739932" y="1062459"/>
                </a:lnTo>
                <a:lnTo>
                  <a:pt x="0" y="1062459"/>
                </a:lnTo>
                <a:lnTo>
                  <a:pt x="0" y="0"/>
                </a:lnTo>
                <a:close/>
              </a:path>
            </a:pathLst>
          </a:custGeom>
          <a:blipFill>
            <a:blip r:embed="rId5"/>
            <a:stretch>
              <a:fillRect l="-1433" t="0" r="-1433" b="0"/>
            </a:stretch>
          </a:blipFill>
        </p:spPr>
      </p:sp>
      <p:sp>
        <p:nvSpPr>
          <p:cNvPr name="Freeform 6" id="6"/>
          <p:cNvSpPr/>
          <p:nvPr/>
        </p:nvSpPr>
        <p:spPr>
          <a:xfrm flipH="false" flipV="false" rot="0">
            <a:off x="10547987" y="2072920"/>
            <a:ext cx="7114716" cy="3111048"/>
          </a:xfrm>
          <a:custGeom>
            <a:avLst/>
            <a:gdLst/>
            <a:ahLst/>
            <a:cxnLst/>
            <a:rect r="r" b="b" t="t" l="l"/>
            <a:pathLst>
              <a:path h="3111048" w="7114716">
                <a:moveTo>
                  <a:pt x="0" y="0"/>
                </a:moveTo>
                <a:lnTo>
                  <a:pt x="7114716" y="0"/>
                </a:lnTo>
                <a:lnTo>
                  <a:pt x="7114716" y="3111047"/>
                </a:lnTo>
                <a:lnTo>
                  <a:pt x="0" y="3111047"/>
                </a:lnTo>
                <a:lnTo>
                  <a:pt x="0" y="0"/>
                </a:lnTo>
                <a:close/>
              </a:path>
            </a:pathLst>
          </a:custGeom>
          <a:blipFill>
            <a:blip r:embed="rId6"/>
            <a:stretch>
              <a:fillRect l="0" t="0" r="0" b="0"/>
            </a:stretch>
          </a:blipFill>
        </p:spPr>
      </p:sp>
      <p:sp>
        <p:nvSpPr>
          <p:cNvPr name="TextBox 7" id="7"/>
          <p:cNvSpPr txBox="true"/>
          <p:nvPr/>
        </p:nvSpPr>
        <p:spPr>
          <a:xfrm rot="0">
            <a:off x="326049" y="-1904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8" id="8"/>
          <p:cNvSpPr txBox="true"/>
          <p:nvPr/>
        </p:nvSpPr>
        <p:spPr>
          <a:xfrm rot="0">
            <a:off x="742484" y="923925"/>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1.4 CÚ PHÁP TẠO BẢNG VÀ LƯU Ý </a:t>
            </a:r>
          </a:p>
        </p:txBody>
      </p:sp>
      <p:sp>
        <p:nvSpPr>
          <p:cNvPr name="TextBox 9" id="9"/>
          <p:cNvSpPr txBox="true"/>
          <p:nvPr/>
        </p:nvSpPr>
        <p:spPr>
          <a:xfrm rot="0">
            <a:off x="2079627" y="5397025"/>
            <a:ext cx="3004783" cy="721180"/>
          </a:xfrm>
          <a:prstGeom prst="rect">
            <a:avLst/>
          </a:prstGeom>
        </p:spPr>
        <p:txBody>
          <a:bodyPr anchor="t" rtlCol="false" tIns="0" lIns="0" bIns="0" rIns="0">
            <a:spAutoFit/>
          </a:bodyPr>
          <a:lstStyle/>
          <a:p>
            <a:pPr algn="just">
              <a:lnSpc>
                <a:spcPts val="5924"/>
              </a:lnSpc>
            </a:pPr>
            <a:r>
              <a:rPr lang="en-US" b="true" sz="4232">
                <a:solidFill>
                  <a:srgbClr val="000000"/>
                </a:solidFill>
                <a:latin typeface="Montserrat Bold"/>
                <a:ea typeface="Montserrat Bold"/>
                <a:cs typeface="Montserrat Bold"/>
                <a:sym typeface="Montserrat Bold"/>
              </a:rPr>
              <a:t>Ví dụ</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3157184" y="3282854"/>
            <a:ext cx="10516121" cy="2015284"/>
          </a:xfrm>
          <a:custGeom>
            <a:avLst/>
            <a:gdLst/>
            <a:ahLst/>
            <a:cxnLst/>
            <a:rect r="r" b="b" t="t" l="l"/>
            <a:pathLst>
              <a:path h="2015284" w="10516121">
                <a:moveTo>
                  <a:pt x="0" y="0"/>
                </a:moveTo>
                <a:lnTo>
                  <a:pt x="10516121" y="0"/>
                </a:lnTo>
                <a:lnTo>
                  <a:pt x="10516121" y="2015284"/>
                </a:lnTo>
                <a:lnTo>
                  <a:pt x="0" y="2015284"/>
                </a:lnTo>
                <a:lnTo>
                  <a:pt x="0" y="0"/>
                </a:lnTo>
                <a:close/>
              </a:path>
            </a:pathLst>
          </a:custGeom>
          <a:blipFill>
            <a:blip r:embed="rId2"/>
            <a:stretch>
              <a:fillRect l="0" t="0" r="0" b="0"/>
            </a:stretch>
          </a:blipFill>
        </p:spPr>
      </p:sp>
      <p:sp>
        <p:nvSpPr>
          <p:cNvPr name="Freeform 3" id="3"/>
          <p:cNvSpPr/>
          <p:nvPr/>
        </p:nvSpPr>
        <p:spPr>
          <a:xfrm flipH="false" flipV="false" rot="0">
            <a:off x="3753185" y="5431488"/>
            <a:ext cx="9324119" cy="4504164"/>
          </a:xfrm>
          <a:custGeom>
            <a:avLst/>
            <a:gdLst/>
            <a:ahLst/>
            <a:cxnLst/>
            <a:rect r="r" b="b" t="t" l="l"/>
            <a:pathLst>
              <a:path h="4504164" w="9324119">
                <a:moveTo>
                  <a:pt x="0" y="0"/>
                </a:moveTo>
                <a:lnTo>
                  <a:pt x="9324119" y="0"/>
                </a:lnTo>
                <a:lnTo>
                  <a:pt x="9324119" y="4504165"/>
                </a:lnTo>
                <a:lnTo>
                  <a:pt x="0" y="4504165"/>
                </a:lnTo>
                <a:lnTo>
                  <a:pt x="0" y="0"/>
                </a:lnTo>
                <a:close/>
              </a:path>
            </a:pathLst>
          </a:custGeom>
          <a:blipFill>
            <a:blip r:embed="rId3"/>
            <a:stretch>
              <a:fillRect l="0" t="0" r="0" b="0"/>
            </a:stretch>
          </a:blipFill>
        </p:spPr>
      </p:sp>
      <p:sp>
        <p:nvSpPr>
          <p:cNvPr name="TextBox 4" id="4"/>
          <p:cNvSpPr txBox="true"/>
          <p:nvPr/>
        </p:nvSpPr>
        <p:spPr>
          <a:xfrm rot="0">
            <a:off x="326049" y="-1904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923925"/>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1.5 CRUD SQLITE</a:t>
            </a:r>
          </a:p>
        </p:txBody>
      </p:sp>
      <p:sp>
        <p:nvSpPr>
          <p:cNvPr name="TextBox 6" id="6"/>
          <p:cNvSpPr txBox="true"/>
          <p:nvPr/>
        </p:nvSpPr>
        <p:spPr>
          <a:xfrm rot="0">
            <a:off x="1158920" y="1682739"/>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1.5.1 C(CREATE)</a:t>
            </a:r>
          </a:p>
        </p:txBody>
      </p:sp>
      <p:sp>
        <p:nvSpPr>
          <p:cNvPr name="TextBox 7" id="7"/>
          <p:cNvSpPr txBox="true"/>
          <p:nvPr/>
        </p:nvSpPr>
        <p:spPr>
          <a:xfrm rot="0">
            <a:off x="1830714" y="2619460"/>
            <a:ext cx="12649890" cy="530044"/>
          </a:xfrm>
          <a:prstGeom prst="rect">
            <a:avLst/>
          </a:prstGeom>
        </p:spPr>
        <p:txBody>
          <a:bodyPr anchor="t" rtlCol="false" tIns="0" lIns="0" bIns="0" rIns="0">
            <a:spAutoFit/>
          </a:bodyPr>
          <a:lstStyle/>
          <a:p>
            <a:pPr algn="just" marL="676225" indent="-338112" lvl="1">
              <a:lnSpc>
                <a:spcPts val="4384"/>
              </a:lnSpc>
              <a:buFont typeface="Arial"/>
              <a:buChar char="•"/>
            </a:pPr>
            <a:r>
              <a:rPr lang="en-US" b="true" sz="3132">
                <a:solidFill>
                  <a:srgbClr val="000000"/>
                </a:solidFill>
                <a:latin typeface="Montserrat Semi-Bold"/>
                <a:ea typeface="Montserrat Semi-Bold"/>
                <a:cs typeface="Montserrat Semi-Bold"/>
                <a:sym typeface="Montserrat Semi-Bold"/>
              </a:rPr>
              <a:t>C trong SQLITE giúp chúng ta thêm dữ liệu mới vào bảng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3540543" y="3515746"/>
            <a:ext cx="10132762" cy="2673060"/>
          </a:xfrm>
          <a:custGeom>
            <a:avLst/>
            <a:gdLst/>
            <a:ahLst/>
            <a:cxnLst/>
            <a:rect r="r" b="b" t="t" l="l"/>
            <a:pathLst>
              <a:path h="2673060" w="10132762">
                <a:moveTo>
                  <a:pt x="0" y="0"/>
                </a:moveTo>
                <a:lnTo>
                  <a:pt x="10132762" y="0"/>
                </a:lnTo>
                <a:lnTo>
                  <a:pt x="10132762" y="2673060"/>
                </a:lnTo>
                <a:lnTo>
                  <a:pt x="0" y="2673060"/>
                </a:lnTo>
                <a:lnTo>
                  <a:pt x="0" y="0"/>
                </a:lnTo>
                <a:close/>
              </a:path>
            </a:pathLst>
          </a:custGeom>
          <a:blipFill>
            <a:blip r:embed="rId2"/>
            <a:stretch>
              <a:fillRect l="0" t="0" r="0" b="0"/>
            </a:stretch>
          </a:blipFill>
        </p:spPr>
      </p:sp>
      <p:sp>
        <p:nvSpPr>
          <p:cNvPr name="Freeform 3" id="3"/>
          <p:cNvSpPr/>
          <p:nvPr/>
        </p:nvSpPr>
        <p:spPr>
          <a:xfrm flipH="false" flipV="false" rot="0">
            <a:off x="4999063" y="6322156"/>
            <a:ext cx="6775548" cy="3153904"/>
          </a:xfrm>
          <a:custGeom>
            <a:avLst/>
            <a:gdLst/>
            <a:ahLst/>
            <a:cxnLst/>
            <a:rect r="r" b="b" t="t" l="l"/>
            <a:pathLst>
              <a:path h="3153904" w="6775548">
                <a:moveTo>
                  <a:pt x="0" y="0"/>
                </a:moveTo>
                <a:lnTo>
                  <a:pt x="6775548" y="0"/>
                </a:lnTo>
                <a:lnTo>
                  <a:pt x="6775548" y="3153904"/>
                </a:lnTo>
                <a:lnTo>
                  <a:pt x="0" y="3153904"/>
                </a:lnTo>
                <a:lnTo>
                  <a:pt x="0" y="0"/>
                </a:lnTo>
                <a:close/>
              </a:path>
            </a:pathLst>
          </a:custGeom>
          <a:blipFill>
            <a:blip r:embed="rId3"/>
            <a:stretch>
              <a:fillRect l="0" t="0" r="0" b="0"/>
            </a:stretch>
          </a:blipFill>
        </p:spPr>
      </p:sp>
      <p:sp>
        <p:nvSpPr>
          <p:cNvPr name="TextBox 4" id="4"/>
          <p:cNvSpPr txBox="true"/>
          <p:nvPr/>
        </p:nvSpPr>
        <p:spPr>
          <a:xfrm rot="0">
            <a:off x="326049" y="-1904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923925"/>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1.5 CRUD SQLITE</a:t>
            </a:r>
          </a:p>
        </p:txBody>
      </p:sp>
      <p:sp>
        <p:nvSpPr>
          <p:cNvPr name="TextBox 6" id="6"/>
          <p:cNvSpPr txBox="true"/>
          <p:nvPr/>
        </p:nvSpPr>
        <p:spPr>
          <a:xfrm rot="0">
            <a:off x="1158920" y="1682739"/>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1.5.2 R(READ)</a:t>
            </a:r>
          </a:p>
        </p:txBody>
      </p:sp>
      <p:sp>
        <p:nvSpPr>
          <p:cNvPr name="TextBox 7" id="7"/>
          <p:cNvSpPr txBox="true"/>
          <p:nvPr/>
        </p:nvSpPr>
        <p:spPr>
          <a:xfrm rot="0">
            <a:off x="1830714" y="2619460"/>
            <a:ext cx="12649890" cy="530044"/>
          </a:xfrm>
          <a:prstGeom prst="rect">
            <a:avLst/>
          </a:prstGeom>
        </p:spPr>
        <p:txBody>
          <a:bodyPr anchor="t" rtlCol="false" tIns="0" lIns="0" bIns="0" rIns="0">
            <a:spAutoFit/>
          </a:bodyPr>
          <a:lstStyle/>
          <a:p>
            <a:pPr algn="just" marL="676225" indent="-338112" lvl="1">
              <a:lnSpc>
                <a:spcPts val="4384"/>
              </a:lnSpc>
              <a:buFont typeface="Arial"/>
              <a:buChar char="•"/>
            </a:pPr>
            <a:r>
              <a:rPr lang="en-US" b="true" sz="3132">
                <a:solidFill>
                  <a:srgbClr val="000000"/>
                </a:solidFill>
                <a:latin typeface="Montserrat Semi-Bold"/>
                <a:ea typeface="Montserrat Semi-Bold"/>
                <a:cs typeface="Montserrat Semi-Bold"/>
                <a:sym typeface="Montserrat Semi-Bold"/>
              </a:rPr>
              <a:t>R trong SQLITE giúp chúng ta đọc dữ liệu từ cơ sở dữ liệu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326049" y="4035329"/>
            <a:ext cx="9283286" cy="4126679"/>
          </a:xfrm>
          <a:custGeom>
            <a:avLst/>
            <a:gdLst/>
            <a:ahLst/>
            <a:cxnLst/>
            <a:rect r="r" b="b" t="t" l="l"/>
            <a:pathLst>
              <a:path h="4126679" w="9283286">
                <a:moveTo>
                  <a:pt x="0" y="0"/>
                </a:moveTo>
                <a:lnTo>
                  <a:pt x="9283286" y="0"/>
                </a:lnTo>
                <a:lnTo>
                  <a:pt x="9283286" y="4126679"/>
                </a:lnTo>
                <a:lnTo>
                  <a:pt x="0" y="4126679"/>
                </a:lnTo>
                <a:lnTo>
                  <a:pt x="0" y="0"/>
                </a:lnTo>
                <a:close/>
              </a:path>
            </a:pathLst>
          </a:custGeom>
          <a:blipFill>
            <a:blip r:embed="rId2"/>
            <a:stretch>
              <a:fillRect l="0" t="0" r="-3313" b="0"/>
            </a:stretch>
          </a:blipFill>
        </p:spPr>
      </p:sp>
      <p:sp>
        <p:nvSpPr>
          <p:cNvPr name="Freeform 3" id="3"/>
          <p:cNvSpPr/>
          <p:nvPr/>
        </p:nvSpPr>
        <p:spPr>
          <a:xfrm flipH="false" flipV="false" rot="0">
            <a:off x="9790956" y="4571832"/>
            <a:ext cx="7468344" cy="3346908"/>
          </a:xfrm>
          <a:custGeom>
            <a:avLst/>
            <a:gdLst/>
            <a:ahLst/>
            <a:cxnLst/>
            <a:rect r="r" b="b" t="t" l="l"/>
            <a:pathLst>
              <a:path h="3346908" w="7468344">
                <a:moveTo>
                  <a:pt x="0" y="0"/>
                </a:moveTo>
                <a:lnTo>
                  <a:pt x="7468344" y="0"/>
                </a:lnTo>
                <a:lnTo>
                  <a:pt x="7468344" y="3346909"/>
                </a:lnTo>
                <a:lnTo>
                  <a:pt x="0" y="3346909"/>
                </a:lnTo>
                <a:lnTo>
                  <a:pt x="0" y="0"/>
                </a:lnTo>
                <a:close/>
              </a:path>
            </a:pathLst>
          </a:custGeom>
          <a:blipFill>
            <a:blip r:embed="rId3"/>
            <a:stretch>
              <a:fillRect l="-387" t="0" r="-387" b="0"/>
            </a:stretch>
          </a:blipFill>
        </p:spPr>
      </p:sp>
      <p:sp>
        <p:nvSpPr>
          <p:cNvPr name="TextBox 4" id="4"/>
          <p:cNvSpPr txBox="true"/>
          <p:nvPr/>
        </p:nvSpPr>
        <p:spPr>
          <a:xfrm rot="0">
            <a:off x="326049" y="-1904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923925"/>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1.5 CRUD SQLITE</a:t>
            </a:r>
          </a:p>
        </p:txBody>
      </p:sp>
      <p:sp>
        <p:nvSpPr>
          <p:cNvPr name="TextBox 6" id="6"/>
          <p:cNvSpPr txBox="true"/>
          <p:nvPr/>
        </p:nvSpPr>
        <p:spPr>
          <a:xfrm rot="0">
            <a:off x="1158920" y="1682739"/>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1.5.3 U(UPDATE)</a:t>
            </a:r>
          </a:p>
        </p:txBody>
      </p:sp>
      <p:sp>
        <p:nvSpPr>
          <p:cNvPr name="TextBox 7" id="7"/>
          <p:cNvSpPr txBox="true"/>
          <p:nvPr/>
        </p:nvSpPr>
        <p:spPr>
          <a:xfrm rot="0">
            <a:off x="1830714" y="2619460"/>
            <a:ext cx="13775392" cy="530044"/>
          </a:xfrm>
          <a:prstGeom prst="rect">
            <a:avLst/>
          </a:prstGeom>
        </p:spPr>
        <p:txBody>
          <a:bodyPr anchor="t" rtlCol="false" tIns="0" lIns="0" bIns="0" rIns="0">
            <a:spAutoFit/>
          </a:bodyPr>
          <a:lstStyle/>
          <a:p>
            <a:pPr algn="just" marL="676225" indent="-338112" lvl="1">
              <a:lnSpc>
                <a:spcPts val="4384"/>
              </a:lnSpc>
              <a:buFont typeface="Arial"/>
              <a:buChar char="•"/>
            </a:pPr>
            <a:r>
              <a:rPr lang="en-US" b="true" sz="3132">
                <a:solidFill>
                  <a:srgbClr val="000000"/>
                </a:solidFill>
                <a:latin typeface="Montserrat Semi-Bold"/>
                <a:ea typeface="Montserrat Semi-Bold"/>
                <a:cs typeface="Montserrat Semi-Bold"/>
                <a:sym typeface="Montserrat Semi-Bold"/>
              </a:rPr>
              <a:t>U trong SQLITE giúp chúng ta cập nhật dữ liệu từ cơ sở dữ liệu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2182163" y="4035329"/>
            <a:ext cx="14932522" cy="2317823"/>
          </a:xfrm>
          <a:custGeom>
            <a:avLst/>
            <a:gdLst/>
            <a:ahLst/>
            <a:cxnLst/>
            <a:rect r="r" b="b" t="t" l="l"/>
            <a:pathLst>
              <a:path h="2317823" w="14932522">
                <a:moveTo>
                  <a:pt x="0" y="0"/>
                </a:moveTo>
                <a:lnTo>
                  <a:pt x="14932522" y="0"/>
                </a:lnTo>
                <a:lnTo>
                  <a:pt x="14932522" y="2317823"/>
                </a:lnTo>
                <a:lnTo>
                  <a:pt x="0" y="2317823"/>
                </a:lnTo>
                <a:lnTo>
                  <a:pt x="0" y="0"/>
                </a:lnTo>
                <a:close/>
              </a:path>
            </a:pathLst>
          </a:custGeom>
          <a:blipFill>
            <a:blip r:embed="rId2"/>
            <a:stretch>
              <a:fillRect l="0" t="0" r="0" b="0"/>
            </a:stretch>
          </a:blipFill>
        </p:spPr>
      </p:sp>
      <p:sp>
        <p:nvSpPr>
          <p:cNvPr name="Freeform 3" id="3"/>
          <p:cNvSpPr/>
          <p:nvPr/>
        </p:nvSpPr>
        <p:spPr>
          <a:xfrm flipH="false" flipV="false" rot="0">
            <a:off x="2182163" y="6987394"/>
            <a:ext cx="14932522" cy="851076"/>
          </a:xfrm>
          <a:custGeom>
            <a:avLst/>
            <a:gdLst/>
            <a:ahLst/>
            <a:cxnLst/>
            <a:rect r="r" b="b" t="t" l="l"/>
            <a:pathLst>
              <a:path h="851076" w="14932522">
                <a:moveTo>
                  <a:pt x="0" y="0"/>
                </a:moveTo>
                <a:lnTo>
                  <a:pt x="14932522" y="0"/>
                </a:lnTo>
                <a:lnTo>
                  <a:pt x="14932522" y="851077"/>
                </a:lnTo>
                <a:lnTo>
                  <a:pt x="0" y="851077"/>
                </a:lnTo>
                <a:lnTo>
                  <a:pt x="0" y="0"/>
                </a:lnTo>
                <a:close/>
              </a:path>
            </a:pathLst>
          </a:custGeom>
          <a:blipFill>
            <a:blip r:embed="rId3"/>
            <a:stretch>
              <a:fillRect l="0" t="0" r="0" b="0"/>
            </a:stretch>
          </a:blipFill>
        </p:spPr>
      </p:sp>
      <p:sp>
        <p:nvSpPr>
          <p:cNvPr name="TextBox 4" id="4"/>
          <p:cNvSpPr txBox="true"/>
          <p:nvPr/>
        </p:nvSpPr>
        <p:spPr>
          <a:xfrm rot="0">
            <a:off x="326049" y="-1904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923925"/>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1.5 CRUD SQLITE</a:t>
            </a:r>
          </a:p>
        </p:txBody>
      </p:sp>
      <p:sp>
        <p:nvSpPr>
          <p:cNvPr name="TextBox 6" id="6"/>
          <p:cNvSpPr txBox="true"/>
          <p:nvPr/>
        </p:nvSpPr>
        <p:spPr>
          <a:xfrm rot="0">
            <a:off x="1158920" y="1682739"/>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1.5.4 D(DELETE)</a:t>
            </a:r>
          </a:p>
        </p:txBody>
      </p:sp>
      <p:sp>
        <p:nvSpPr>
          <p:cNvPr name="TextBox 7" id="7"/>
          <p:cNvSpPr txBox="true"/>
          <p:nvPr/>
        </p:nvSpPr>
        <p:spPr>
          <a:xfrm rot="0">
            <a:off x="1830714" y="2619460"/>
            <a:ext cx="13775392" cy="530044"/>
          </a:xfrm>
          <a:prstGeom prst="rect">
            <a:avLst/>
          </a:prstGeom>
        </p:spPr>
        <p:txBody>
          <a:bodyPr anchor="t" rtlCol="false" tIns="0" lIns="0" bIns="0" rIns="0">
            <a:spAutoFit/>
          </a:bodyPr>
          <a:lstStyle/>
          <a:p>
            <a:pPr algn="just" marL="676225" indent="-338112" lvl="1">
              <a:lnSpc>
                <a:spcPts val="4384"/>
              </a:lnSpc>
              <a:buFont typeface="Arial"/>
              <a:buChar char="•"/>
            </a:pPr>
            <a:r>
              <a:rPr lang="en-US" b="true" sz="3132">
                <a:solidFill>
                  <a:srgbClr val="000000"/>
                </a:solidFill>
                <a:latin typeface="Montserrat Semi-Bold"/>
                <a:ea typeface="Montserrat Semi-Bold"/>
                <a:cs typeface="Montserrat Semi-Bold"/>
                <a:sym typeface="Montserrat Semi-Bold"/>
              </a:rPr>
              <a:t>D trong SQLITE giúp chúng ta xóa dữ liệu từ cơ sở dữ liệu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742484" y="3688357"/>
            <a:ext cx="7916381" cy="5015879"/>
          </a:xfrm>
          <a:custGeom>
            <a:avLst/>
            <a:gdLst/>
            <a:ahLst/>
            <a:cxnLst/>
            <a:rect r="r" b="b" t="t" l="l"/>
            <a:pathLst>
              <a:path h="5015879" w="7916381">
                <a:moveTo>
                  <a:pt x="0" y="0"/>
                </a:moveTo>
                <a:lnTo>
                  <a:pt x="7916382" y="0"/>
                </a:lnTo>
                <a:lnTo>
                  <a:pt x="7916382" y="5015879"/>
                </a:lnTo>
                <a:lnTo>
                  <a:pt x="0" y="5015879"/>
                </a:lnTo>
                <a:lnTo>
                  <a:pt x="0" y="0"/>
                </a:lnTo>
                <a:close/>
              </a:path>
            </a:pathLst>
          </a:custGeom>
          <a:blipFill>
            <a:blip r:embed="rId2"/>
            <a:stretch>
              <a:fillRect l="-1053" t="0" r="-1580" b="0"/>
            </a:stretch>
          </a:blipFill>
        </p:spPr>
      </p:sp>
      <p:sp>
        <p:nvSpPr>
          <p:cNvPr name="Freeform 3" id="3"/>
          <p:cNvSpPr/>
          <p:nvPr/>
        </p:nvSpPr>
        <p:spPr>
          <a:xfrm flipH="false" flipV="false" rot="0">
            <a:off x="8917731" y="4552722"/>
            <a:ext cx="8992737" cy="4151514"/>
          </a:xfrm>
          <a:custGeom>
            <a:avLst/>
            <a:gdLst/>
            <a:ahLst/>
            <a:cxnLst/>
            <a:rect r="r" b="b" t="t" l="l"/>
            <a:pathLst>
              <a:path h="4151514" w="8992737">
                <a:moveTo>
                  <a:pt x="0" y="0"/>
                </a:moveTo>
                <a:lnTo>
                  <a:pt x="8992737" y="0"/>
                </a:lnTo>
                <a:lnTo>
                  <a:pt x="8992737" y="4151514"/>
                </a:lnTo>
                <a:lnTo>
                  <a:pt x="0" y="4151514"/>
                </a:lnTo>
                <a:lnTo>
                  <a:pt x="0" y="0"/>
                </a:lnTo>
                <a:close/>
              </a:path>
            </a:pathLst>
          </a:custGeom>
          <a:blipFill>
            <a:blip r:embed="rId3"/>
            <a:stretch>
              <a:fillRect l="0" t="0" r="-7387" b="0"/>
            </a:stretch>
          </a:blipFill>
        </p:spPr>
      </p:sp>
      <p:sp>
        <p:nvSpPr>
          <p:cNvPr name="TextBox 4" id="4"/>
          <p:cNvSpPr txBox="true"/>
          <p:nvPr/>
        </p:nvSpPr>
        <p:spPr>
          <a:xfrm rot="0">
            <a:off x="326049" y="-1904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923925"/>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1.6 DEMO DỰ ÁN THỰC TẾ SỬ DỤNG SQLITE</a:t>
            </a:r>
          </a:p>
        </p:txBody>
      </p:sp>
      <p:sp>
        <p:nvSpPr>
          <p:cNvPr name="TextBox 6" id="6"/>
          <p:cNvSpPr txBox="true"/>
          <p:nvPr/>
        </p:nvSpPr>
        <p:spPr>
          <a:xfrm rot="0">
            <a:off x="2903690" y="1817799"/>
            <a:ext cx="12930821" cy="863589"/>
          </a:xfrm>
          <a:prstGeom prst="rect">
            <a:avLst/>
          </a:prstGeom>
        </p:spPr>
        <p:txBody>
          <a:bodyPr anchor="t" rtlCol="false" tIns="0" lIns="0" bIns="0" rIns="0">
            <a:spAutoFit/>
          </a:bodyPr>
          <a:lstStyle/>
          <a:p>
            <a:pPr algn="l">
              <a:lnSpc>
                <a:spcPts val="7000"/>
              </a:lnSpc>
            </a:pPr>
            <a:r>
              <a:rPr lang="en-US" b="true" sz="5000">
                <a:solidFill>
                  <a:srgbClr val="9E99D6"/>
                </a:solidFill>
                <a:latin typeface="Roboto Bold"/>
                <a:ea typeface="Roboto Bold"/>
                <a:cs typeface="Roboto Bold"/>
                <a:sym typeface="Roboto Bold"/>
              </a:rPr>
              <a:t>QUẢN LÝ CỬA HÀNG LINH KIỆN ĐIỆN TỬ</a:t>
            </a:r>
          </a:p>
        </p:txBody>
      </p:sp>
      <p:sp>
        <p:nvSpPr>
          <p:cNvPr name="TextBox 7" id="7"/>
          <p:cNvSpPr txBox="true"/>
          <p:nvPr/>
        </p:nvSpPr>
        <p:spPr>
          <a:xfrm rot="0">
            <a:off x="1158920" y="2719488"/>
            <a:ext cx="12930821" cy="804534"/>
          </a:xfrm>
          <a:prstGeom prst="rect">
            <a:avLst/>
          </a:prstGeom>
        </p:spPr>
        <p:txBody>
          <a:bodyPr anchor="t" rtlCol="false" tIns="0" lIns="0" bIns="0" rIns="0">
            <a:spAutoFit/>
          </a:bodyPr>
          <a:lstStyle/>
          <a:p>
            <a:pPr algn="l">
              <a:lnSpc>
                <a:spcPts val="6580"/>
              </a:lnSpc>
            </a:pPr>
            <a:r>
              <a:rPr lang="en-US" b="true" sz="4700">
                <a:solidFill>
                  <a:srgbClr val="000000"/>
                </a:solidFill>
                <a:latin typeface="Roboto Bold"/>
                <a:ea typeface="Roboto Bold"/>
                <a:cs typeface="Roboto Bold"/>
                <a:sym typeface="Roboto Bold"/>
              </a:rPr>
              <a:t>B1: TẠO ĐỐI TƯỢNG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2131692" y="3657372"/>
            <a:ext cx="6248492" cy="5122922"/>
          </a:xfrm>
          <a:custGeom>
            <a:avLst/>
            <a:gdLst/>
            <a:ahLst/>
            <a:cxnLst/>
            <a:rect r="r" b="b" t="t" l="l"/>
            <a:pathLst>
              <a:path h="5122922" w="6248492">
                <a:moveTo>
                  <a:pt x="0" y="0"/>
                </a:moveTo>
                <a:lnTo>
                  <a:pt x="6248492" y="0"/>
                </a:lnTo>
                <a:lnTo>
                  <a:pt x="6248492" y="5122922"/>
                </a:lnTo>
                <a:lnTo>
                  <a:pt x="0" y="5122922"/>
                </a:lnTo>
                <a:lnTo>
                  <a:pt x="0" y="0"/>
                </a:lnTo>
                <a:close/>
              </a:path>
            </a:pathLst>
          </a:custGeom>
          <a:blipFill>
            <a:blip r:embed="rId2"/>
            <a:stretch>
              <a:fillRect l="0" t="0" r="0" b="0"/>
            </a:stretch>
          </a:blipFill>
        </p:spPr>
      </p:sp>
      <p:sp>
        <p:nvSpPr>
          <p:cNvPr name="Freeform 3" id="3"/>
          <p:cNvSpPr/>
          <p:nvPr/>
        </p:nvSpPr>
        <p:spPr>
          <a:xfrm flipH="false" flipV="false" rot="0">
            <a:off x="9144000" y="3524022"/>
            <a:ext cx="6058042" cy="5256272"/>
          </a:xfrm>
          <a:custGeom>
            <a:avLst/>
            <a:gdLst/>
            <a:ahLst/>
            <a:cxnLst/>
            <a:rect r="r" b="b" t="t" l="l"/>
            <a:pathLst>
              <a:path h="5256272" w="6058042">
                <a:moveTo>
                  <a:pt x="0" y="0"/>
                </a:moveTo>
                <a:lnTo>
                  <a:pt x="6058042" y="0"/>
                </a:lnTo>
                <a:lnTo>
                  <a:pt x="6058042" y="5256272"/>
                </a:lnTo>
                <a:lnTo>
                  <a:pt x="0" y="5256272"/>
                </a:lnTo>
                <a:lnTo>
                  <a:pt x="0" y="0"/>
                </a:lnTo>
                <a:close/>
              </a:path>
            </a:pathLst>
          </a:custGeom>
          <a:blipFill>
            <a:blip r:embed="rId3"/>
            <a:stretch>
              <a:fillRect l="0" t="0" r="-9465" b="0"/>
            </a:stretch>
          </a:blipFill>
        </p:spPr>
      </p:sp>
      <p:sp>
        <p:nvSpPr>
          <p:cNvPr name="TextBox 4" id="4"/>
          <p:cNvSpPr txBox="true"/>
          <p:nvPr/>
        </p:nvSpPr>
        <p:spPr>
          <a:xfrm rot="0">
            <a:off x="326049" y="-1904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923925"/>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1.6 DEMO DỰ ÁN THỰC TẾ SỬ DỤNG SQLITE</a:t>
            </a:r>
          </a:p>
        </p:txBody>
      </p:sp>
      <p:sp>
        <p:nvSpPr>
          <p:cNvPr name="TextBox 6" id="6"/>
          <p:cNvSpPr txBox="true"/>
          <p:nvPr/>
        </p:nvSpPr>
        <p:spPr>
          <a:xfrm rot="0">
            <a:off x="2903690" y="1817799"/>
            <a:ext cx="12930821" cy="863589"/>
          </a:xfrm>
          <a:prstGeom prst="rect">
            <a:avLst/>
          </a:prstGeom>
        </p:spPr>
        <p:txBody>
          <a:bodyPr anchor="t" rtlCol="false" tIns="0" lIns="0" bIns="0" rIns="0">
            <a:spAutoFit/>
          </a:bodyPr>
          <a:lstStyle/>
          <a:p>
            <a:pPr algn="l">
              <a:lnSpc>
                <a:spcPts val="7000"/>
              </a:lnSpc>
            </a:pPr>
            <a:r>
              <a:rPr lang="en-US" b="true" sz="5000">
                <a:solidFill>
                  <a:srgbClr val="9E99D6"/>
                </a:solidFill>
                <a:latin typeface="Roboto Bold"/>
                <a:ea typeface="Roboto Bold"/>
                <a:cs typeface="Roboto Bold"/>
                <a:sym typeface="Roboto Bold"/>
              </a:rPr>
              <a:t>QUẢN LÝ CỬA HÀNG LINH KIỆN ĐIỆN TỬ</a:t>
            </a:r>
          </a:p>
        </p:txBody>
      </p:sp>
      <p:sp>
        <p:nvSpPr>
          <p:cNvPr name="TextBox 7" id="7"/>
          <p:cNvSpPr txBox="true"/>
          <p:nvPr/>
        </p:nvSpPr>
        <p:spPr>
          <a:xfrm rot="0">
            <a:off x="1158920" y="2719488"/>
            <a:ext cx="12930821" cy="804534"/>
          </a:xfrm>
          <a:prstGeom prst="rect">
            <a:avLst/>
          </a:prstGeom>
        </p:spPr>
        <p:txBody>
          <a:bodyPr anchor="t" rtlCol="false" tIns="0" lIns="0" bIns="0" rIns="0">
            <a:spAutoFit/>
          </a:bodyPr>
          <a:lstStyle/>
          <a:p>
            <a:pPr algn="l">
              <a:lnSpc>
                <a:spcPts val="6580"/>
              </a:lnSpc>
            </a:pPr>
            <a:r>
              <a:rPr lang="en-US" b="true" sz="4700">
                <a:solidFill>
                  <a:srgbClr val="000000"/>
                </a:solidFill>
                <a:latin typeface="Roboto Bold"/>
                <a:ea typeface="Roboto Bold"/>
                <a:cs typeface="Roboto Bold"/>
                <a:sym typeface="Roboto Bold"/>
              </a:rPr>
              <a:t>B1: TẠO ĐỐI TƯỢNG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115557"/>
            <a:ext cx="9809854" cy="4640426"/>
          </a:xfrm>
          <a:custGeom>
            <a:avLst/>
            <a:gdLst/>
            <a:ahLst/>
            <a:cxnLst/>
            <a:rect r="r" b="b" t="t" l="l"/>
            <a:pathLst>
              <a:path h="4640426" w="9809854">
                <a:moveTo>
                  <a:pt x="0" y="0"/>
                </a:moveTo>
                <a:lnTo>
                  <a:pt x="9809854" y="0"/>
                </a:lnTo>
                <a:lnTo>
                  <a:pt x="9809854" y="4640426"/>
                </a:lnTo>
                <a:lnTo>
                  <a:pt x="0" y="4640426"/>
                </a:lnTo>
                <a:lnTo>
                  <a:pt x="0" y="0"/>
                </a:lnTo>
                <a:close/>
              </a:path>
            </a:pathLst>
          </a:custGeom>
          <a:blipFill>
            <a:blip r:embed="rId2"/>
            <a:stretch>
              <a:fillRect l="0" t="0" r="-1863" b="0"/>
            </a:stretch>
          </a:blipFill>
        </p:spPr>
      </p:sp>
      <p:sp>
        <p:nvSpPr>
          <p:cNvPr name="Freeform 3" id="3"/>
          <p:cNvSpPr/>
          <p:nvPr/>
        </p:nvSpPr>
        <p:spPr>
          <a:xfrm flipH="false" flipV="false" rot="0">
            <a:off x="11330674" y="3822927"/>
            <a:ext cx="5461024" cy="6107573"/>
          </a:xfrm>
          <a:custGeom>
            <a:avLst/>
            <a:gdLst/>
            <a:ahLst/>
            <a:cxnLst/>
            <a:rect r="r" b="b" t="t" l="l"/>
            <a:pathLst>
              <a:path h="6107573" w="5461024">
                <a:moveTo>
                  <a:pt x="0" y="0"/>
                </a:moveTo>
                <a:lnTo>
                  <a:pt x="5461025" y="0"/>
                </a:lnTo>
                <a:lnTo>
                  <a:pt x="5461025" y="6107573"/>
                </a:lnTo>
                <a:lnTo>
                  <a:pt x="0" y="6107573"/>
                </a:lnTo>
                <a:lnTo>
                  <a:pt x="0" y="0"/>
                </a:lnTo>
                <a:close/>
              </a:path>
            </a:pathLst>
          </a:custGeom>
          <a:blipFill>
            <a:blip r:embed="rId3"/>
            <a:stretch>
              <a:fillRect l="0" t="0" r="0" b="0"/>
            </a:stretch>
          </a:blipFill>
        </p:spPr>
      </p:sp>
      <p:sp>
        <p:nvSpPr>
          <p:cNvPr name="TextBox 4" id="4"/>
          <p:cNvSpPr txBox="true"/>
          <p:nvPr/>
        </p:nvSpPr>
        <p:spPr>
          <a:xfrm rot="0">
            <a:off x="326049" y="-19040"/>
            <a:ext cx="13763692" cy="1047740"/>
          </a:xfrm>
          <a:prstGeom prst="rect">
            <a:avLst/>
          </a:prstGeom>
        </p:spPr>
        <p:txBody>
          <a:bodyPr anchor="t" rtlCol="false" tIns="0" lIns="0" bIns="0" rIns="0">
            <a:spAutoFit/>
          </a:bodyPr>
          <a:lstStyle/>
          <a:p>
            <a:pPr algn="l">
              <a:lnSpc>
                <a:spcPts val="8400"/>
              </a:lnSpc>
            </a:pPr>
            <a:r>
              <a:rPr lang="en-US" sz="60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923925"/>
            <a:ext cx="12930821" cy="863589"/>
          </a:xfrm>
          <a:prstGeom prst="rect">
            <a:avLst/>
          </a:prstGeom>
        </p:spPr>
        <p:txBody>
          <a:bodyPr anchor="t" rtlCol="false" tIns="0" lIns="0" bIns="0" rIns="0">
            <a:spAutoFit/>
          </a:bodyPr>
          <a:lstStyle/>
          <a:p>
            <a:pPr algn="l">
              <a:lnSpc>
                <a:spcPts val="7000"/>
              </a:lnSpc>
            </a:pPr>
            <a:r>
              <a:rPr lang="en-US" sz="5000" b="true">
                <a:solidFill>
                  <a:srgbClr val="000000"/>
                </a:solidFill>
                <a:latin typeface="Roboto Bold"/>
                <a:ea typeface="Roboto Bold"/>
                <a:cs typeface="Roboto Bold"/>
                <a:sym typeface="Roboto Bold"/>
              </a:rPr>
              <a:t>1.6 DEMO DỰ ÁN THỰC TẾ SỬ DỤNG SQLITE</a:t>
            </a:r>
          </a:p>
        </p:txBody>
      </p:sp>
      <p:sp>
        <p:nvSpPr>
          <p:cNvPr name="TextBox 6" id="6"/>
          <p:cNvSpPr txBox="true"/>
          <p:nvPr/>
        </p:nvSpPr>
        <p:spPr>
          <a:xfrm rot="0">
            <a:off x="2903690" y="1817799"/>
            <a:ext cx="12930821" cy="863589"/>
          </a:xfrm>
          <a:prstGeom prst="rect">
            <a:avLst/>
          </a:prstGeom>
        </p:spPr>
        <p:txBody>
          <a:bodyPr anchor="t" rtlCol="false" tIns="0" lIns="0" bIns="0" rIns="0">
            <a:spAutoFit/>
          </a:bodyPr>
          <a:lstStyle/>
          <a:p>
            <a:pPr algn="l">
              <a:lnSpc>
                <a:spcPts val="7000"/>
              </a:lnSpc>
            </a:pPr>
            <a:r>
              <a:rPr lang="en-US" b="true" sz="5000">
                <a:solidFill>
                  <a:srgbClr val="9E99D6"/>
                </a:solidFill>
                <a:latin typeface="Roboto Bold"/>
                <a:ea typeface="Roboto Bold"/>
                <a:cs typeface="Roboto Bold"/>
                <a:sym typeface="Roboto Bold"/>
              </a:rPr>
              <a:t>QUẢN LÝ CỬA HÀNG LINH KIỆN ĐIỆN TỬ</a:t>
            </a:r>
          </a:p>
        </p:txBody>
      </p:sp>
      <p:sp>
        <p:nvSpPr>
          <p:cNvPr name="TextBox 7" id="7"/>
          <p:cNvSpPr txBox="true"/>
          <p:nvPr/>
        </p:nvSpPr>
        <p:spPr>
          <a:xfrm rot="0">
            <a:off x="1158920" y="2719488"/>
            <a:ext cx="12930821" cy="804534"/>
          </a:xfrm>
          <a:prstGeom prst="rect">
            <a:avLst/>
          </a:prstGeom>
        </p:spPr>
        <p:txBody>
          <a:bodyPr anchor="t" rtlCol="false" tIns="0" lIns="0" bIns="0" rIns="0">
            <a:spAutoFit/>
          </a:bodyPr>
          <a:lstStyle/>
          <a:p>
            <a:pPr algn="l">
              <a:lnSpc>
                <a:spcPts val="6580"/>
              </a:lnSpc>
            </a:pPr>
            <a:r>
              <a:rPr lang="en-US" b="true" sz="4700">
                <a:solidFill>
                  <a:srgbClr val="000000"/>
                </a:solidFill>
                <a:latin typeface="Roboto Bold"/>
                <a:ea typeface="Roboto Bold"/>
                <a:cs typeface="Roboto Bold"/>
                <a:sym typeface="Roboto Bold"/>
              </a:rPr>
              <a:t>B1: TẠO ĐỐI TƯỢNG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506129" y="3867477"/>
            <a:ext cx="9320552" cy="5732139"/>
          </a:xfrm>
          <a:custGeom>
            <a:avLst/>
            <a:gdLst/>
            <a:ahLst/>
            <a:cxnLst/>
            <a:rect r="r" b="b" t="t" l="l"/>
            <a:pathLst>
              <a:path h="5732139" w="9320552">
                <a:moveTo>
                  <a:pt x="0" y="0"/>
                </a:moveTo>
                <a:lnTo>
                  <a:pt x="9320552" y="0"/>
                </a:lnTo>
                <a:lnTo>
                  <a:pt x="9320552" y="5732140"/>
                </a:lnTo>
                <a:lnTo>
                  <a:pt x="0" y="5732140"/>
                </a:lnTo>
                <a:lnTo>
                  <a:pt x="0" y="0"/>
                </a:lnTo>
                <a:close/>
              </a:path>
            </a:pathLst>
          </a:custGeom>
          <a:blipFill>
            <a:blip r:embed="rId2"/>
            <a:stretch>
              <a:fillRect l="0" t="0" r="0" b="0"/>
            </a:stretch>
          </a:blipFill>
        </p:spPr>
      </p:sp>
      <p:sp>
        <p:nvSpPr>
          <p:cNvPr name="Freeform 3" id="3"/>
          <p:cNvSpPr/>
          <p:nvPr/>
        </p:nvSpPr>
        <p:spPr>
          <a:xfrm flipH="false" flipV="false" rot="0">
            <a:off x="10157778" y="4744750"/>
            <a:ext cx="7642110" cy="4142685"/>
          </a:xfrm>
          <a:custGeom>
            <a:avLst/>
            <a:gdLst/>
            <a:ahLst/>
            <a:cxnLst/>
            <a:rect r="r" b="b" t="t" l="l"/>
            <a:pathLst>
              <a:path h="4142685" w="7642110">
                <a:moveTo>
                  <a:pt x="0" y="0"/>
                </a:moveTo>
                <a:lnTo>
                  <a:pt x="7642110" y="0"/>
                </a:lnTo>
                <a:lnTo>
                  <a:pt x="7642110" y="4142685"/>
                </a:lnTo>
                <a:lnTo>
                  <a:pt x="0" y="4142685"/>
                </a:lnTo>
                <a:lnTo>
                  <a:pt x="0" y="0"/>
                </a:lnTo>
                <a:close/>
              </a:path>
            </a:pathLst>
          </a:custGeom>
          <a:blipFill>
            <a:blip r:embed="rId3"/>
            <a:stretch>
              <a:fillRect l="-929" t="0" r="-929" b="0"/>
            </a:stretch>
          </a:blipFill>
        </p:spPr>
      </p:sp>
      <p:sp>
        <p:nvSpPr>
          <p:cNvPr name="TextBox 4" id="4"/>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92392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6" id="6"/>
          <p:cNvSpPr txBox="true"/>
          <p:nvPr/>
        </p:nvSpPr>
        <p:spPr>
          <a:xfrm rot="0">
            <a:off x="2903690" y="1817799"/>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7" id="7"/>
          <p:cNvSpPr txBox="true"/>
          <p:nvPr/>
        </p:nvSpPr>
        <p:spPr>
          <a:xfrm rot="0">
            <a:off x="1158920" y="2729013"/>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B2</a:t>
            </a:r>
            <a:r>
              <a:rPr lang="en-US" b="true" sz="4200">
                <a:solidFill>
                  <a:srgbClr val="000000"/>
                </a:solidFill>
                <a:latin typeface="Roboto Bold"/>
                <a:ea typeface="Roboto Bold"/>
                <a:cs typeface="Roboto Bold"/>
                <a:sym typeface="Roboto Bold"/>
              </a:rPr>
              <a:t>: TẠO BẢNG VÀ CÁC HÀM CRUD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689875" y="3660546"/>
            <a:ext cx="7882755" cy="5597754"/>
          </a:xfrm>
          <a:custGeom>
            <a:avLst/>
            <a:gdLst/>
            <a:ahLst/>
            <a:cxnLst/>
            <a:rect r="r" b="b" t="t" l="l"/>
            <a:pathLst>
              <a:path h="5597754" w="7882755">
                <a:moveTo>
                  <a:pt x="0" y="0"/>
                </a:moveTo>
                <a:lnTo>
                  <a:pt x="7882754" y="0"/>
                </a:lnTo>
                <a:lnTo>
                  <a:pt x="7882754" y="5597754"/>
                </a:lnTo>
                <a:lnTo>
                  <a:pt x="0" y="5597754"/>
                </a:lnTo>
                <a:lnTo>
                  <a:pt x="0" y="0"/>
                </a:lnTo>
                <a:close/>
              </a:path>
            </a:pathLst>
          </a:custGeom>
          <a:blipFill>
            <a:blip r:embed="rId2"/>
            <a:stretch>
              <a:fillRect l="0" t="0" r="0" b="0"/>
            </a:stretch>
          </a:blipFill>
        </p:spPr>
      </p:sp>
      <p:sp>
        <p:nvSpPr>
          <p:cNvPr name="Freeform 3" id="3"/>
          <p:cNvSpPr/>
          <p:nvPr/>
        </p:nvSpPr>
        <p:spPr>
          <a:xfrm flipH="false" flipV="false" rot="0">
            <a:off x="10158349" y="3660546"/>
            <a:ext cx="6490499" cy="5597754"/>
          </a:xfrm>
          <a:custGeom>
            <a:avLst/>
            <a:gdLst/>
            <a:ahLst/>
            <a:cxnLst/>
            <a:rect r="r" b="b" t="t" l="l"/>
            <a:pathLst>
              <a:path h="5597754" w="6490499">
                <a:moveTo>
                  <a:pt x="0" y="0"/>
                </a:moveTo>
                <a:lnTo>
                  <a:pt x="6490499" y="0"/>
                </a:lnTo>
                <a:lnTo>
                  <a:pt x="6490499" y="5597754"/>
                </a:lnTo>
                <a:lnTo>
                  <a:pt x="0" y="5597754"/>
                </a:lnTo>
                <a:lnTo>
                  <a:pt x="0" y="0"/>
                </a:lnTo>
                <a:close/>
              </a:path>
            </a:pathLst>
          </a:custGeom>
          <a:blipFill>
            <a:blip r:embed="rId3"/>
            <a:stretch>
              <a:fillRect l="0" t="0" r="0" b="0"/>
            </a:stretch>
          </a:blipFill>
        </p:spPr>
      </p:sp>
      <p:sp>
        <p:nvSpPr>
          <p:cNvPr name="TextBox 4" id="4"/>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92392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6" id="6"/>
          <p:cNvSpPr txBox="true"/>
          <p:nvPr/>
        </p:nvSpPr>
        <p:spPr>
          <a:xfrm rot="0">
            <a:off x="2903690" y="1817799"/>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7" id="7"/>
          <p:cNvSpPr txBox="true"/>
          <p:nvPr/>
        </p:nvSpPr>
        <p:spPr>
          <a:xfrm rot="0">
            <a:off x="1158920" y="2729013"/>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B2</a:t>
            </a:r>
            <a:r>
              <a:rPr lang="en-US" b="true" sz="4200">
                <a:solidFill>
                  <a:srgbClr val="000000"/>
                </a:solidFill>
                <a:latin typeface="Roboto Bold"/>
                <a:ea typeface="Roboto Bold"/>
                <a:cs typeface="Roboto Bold"/>
                <a:sym typeface="Roboto Bold"/>
              </a:rPr>
              <a:t>: TẠO BẢNG VÀ CÁC HÀM CRUD</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450996"/>
            <a:ext cx="7005525" cy="6371950"/>
          </a:xfrm>
          <a:custGeom>
            <a:avLst/>
            <a:gdLst/>
            <a:ahLst/>
            <a:cxnLst/>
            <a:rect r="r" b="b" t="t" l="l"/>
            <a:pathLst>
              <a:path h="6371950" w="7005525">
                <a:moveTo>
                  <a:pt x="0" y="0"/>
                </a:moveTo>
                <a:lnTo>
                  <a:pt x="7005525" y="0"/>
                </a:lnTo>
                <a:lnTo>
                  <a:pt x="7005525" y="6371950"/>
                </a:lnTo>
                <a:lnTo>
                  <a:pt x="0" y="6371950"/>
                </a:lnTo>
                <a:lnTo>
                  <a:pt x="0" y="0"/>
                </a:lnTo>
                <a:close/>
              </a:path>
            </a:pathLst>
          </a:custGeom>
          <a:blipFill>
            <a:blip r:embed="rId2"/>
            <a:stretch>
              <a:fillRect l="0" t="0" r="0" b="0"/>
            </a:stretch>
          </a:blipFill>
        </p:spPr>
      </p:sp>
      <p:sp>
        <p:nvSpPr>
          <p:cNvPr name="TextBox 3" id="3"/>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4" id="4"/>
          <p:cNvSpPr txBox="true"/>
          <p:nvPr/>
        </p:nvSpPr>
        <p:spPr>
          <a:xfrm rot="0">
            <a:off x="742484" y="92392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5" id="5"/>
          <p:cNvSpPr txBox="true"/>
          <p:nvPr/>
        </p:nvSpPr>
        <p:spPr>
          <a:xfrm rot="0">
            <a:off x="2903690" y="1817799"/>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6" id="6"/>
          <p:cNvSpPr txBox="true"/>
          <p:nvPr/>
        </p:nvSpPr>
        <p:spPr>
          <a:xfrm rot="0">
            <a:off x="1158920" y="2729013"/>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B2</a:t>
            </a:r>
            <a:r>
              <a:rPr lang="en-US" b="true" sz="4200">
                <a:solidFill>
                  <a:srgbClr val="000000"/>
                </a:solidFill>
                <a:latin typeface="Roboto Bold"/>
                <a:ea typeface="Roboto Bold"/>
                <a:cs typeface="Roboto Bold"/>
                <a:sym typeface="Roboto Bold"/>
              </a:rPr>
              <a:t>: TẠO BẢNG VÀ CÁC HÀM CRUD</a:t>
            </a:r>
          </a:p>
        </p:txBody>
      </p:sp>
      <p:sp>
        <p:nvSpPr>
          <p:cNvPr name="Freeform 7" id="7"/>
          <p:cNvSpPr/>
          <p:nvPr/>
        </p:nvSpPr>
        <p:spPr>
          <a:xfrm flipH="false" flipV="false" rot="0">
            <a:off x="8644193" y="3450996"/>
            <a:ext cx="7838080" cy="6209259"/>
          </a:xfrm>
          <a:custGeom>
            <a:avLst/>
            <a:gdLst/>
            <a:ahLst/>
            <a:cxnLst/>
            <a:rect r="r" b="b" t="t" l="l"/>
            <a:pathLst>
              <a:path h="6209259" w="7838080">
                <a:moveTo>
                  <a:pt x="0" y="0"/>
                </a:moveTo>
                <a:lnTo>
                  <a:pt x="7838080" y="0"/>
                </a:lnTo>
                <a:lnTo>
                  <a:pt x="7838080" y="6209260"/>
                </a:lnTo>
                <a:lnTo>
                  <a:pt x="0" y="6209260"/>
                </a:lnTo>
                <a:lnTo>
                  <a:pt x="0" y="0"/>
                </a:lnTo>
                <a:close/>
              </a:path>
            </a:pathLst>
          </a:custGeom>
          <a:blipFill>
            <a:blip r:embed="rId3"/>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307414" y="3450996"/>
            <a:ext cx="6651641" cy="6294984"/>
          </a:xfrm>
          <a:custGeom>
            <a:avLst/>
            <a:gdLst/>
            <a:ahLst/>
            <a:cxnLst/>
            <a:rect r="r" b="b" t="t" l="l"/>
            <a:pathLst>
              <a:path h="6294984" w="6651641">
                <a:moveTo>
                  <a:pt x="0" y="0"/>
                </a:moveTo>
                <a:lnTo>
                  <a:pt x="6651641" y="0"/>
                </a:lnTo>
                <a:lnTo>
                  <a:pt x="6651641" y="6294985"/>
                </a:lnTo>
                <a:lnTo>
                  <a:pt x="0" y="6294985"/>
                </a:lnTo>
                <a:lnTo>
                  <a:pt x="0" y="0"/>
                </a:lnTo>
                <a:close/>
              </a:path>
            </a:pathLst>
          </a:custGeom>
          <a:blipFill>
            <a:blip r:embed="rId2"/>
            <a:stretch>
              <a:fillRect l="0" t="0" r="0" b="0"/>
            </a:stretch>
          </a:blipFill>
        </p:spPr>
      </p:sp>
      <p:sp>
        <p:nvSpPr>
          <p:cNvPr name="TextBox 3" id="3"/>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4" id="4"/>
          <p:cNvSpPr txBox="true"/>
          <p:nvPr/>
        </p:nvSpPr>
        <p:spPr>
          <a:xfrm rot="0">
            <a:off x="742484" y="92392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5" id="5"/>
          <p:cNvSpPr txBox="true"/>
          <p:nvPr/>
        </p:nvSpPr>
        <p:spPr>
          <a:xfrm rot="0">
            <a:off x="2903690" y="1817799"/>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6" id="6"/>
          <p:cNvSpPr txBox="true"/>
          <p:nvPr/>
        </p:nvSpPr>
        <p:spPr>
          <a:xfrm rot="0">
            <a:off x="1158920" y="2729013"/>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B2</a:t>
            </a:r>
            <a:r>
              <a:rPr lang="en-US" b="true" sz="4200">
                <a:solidFill>
                  <a:srgbClr val="000000"/>
                </a:solidFill>
                <a:latin typeface="Roboto Bold"/>
                <a:ea typeface="Roboto Bold"/>
                <a:cs typeface="Roboto Bold"/>
                <a:sym typeface="Roboto Bold"/>
              </a:rPr>
              <a:t>: TẠO BẢNG VÀ CÁC HÀM CRUD</a:t>
            </a:r>
          </a:p>
        </p:txBody>
      </p:sp>
      <p:sp>
        <p:nvSpPr>
          <p:cNvPr name="Freeform 7" id="7"/>
          <p:cNvSpPr/>
          <p:nvPr/>
        </p:nvSpPr>
        <p:spPr>
          <a:xfrm flipH="false" flipV="false" rot="0">
            <a:off x="8302131" y="3660546"/>
            <a:ext cx="9157072" cy="5613628"/>
          </a:xfrm>
          <a:custGeom>
            <a:avLst/>
            <a:gdLst/>
            <a:ahLst/>
            <a:cxnLst/>
            <a:rect r="r" b="b" t="t" l="l"/>
            <a:pathLst>
              <a:path h="5613628" w="9157072">
                <a:moveTo>
                  <a:pt x="0" y="0"/>
                </a:moveTo>
                <a:lnTo>
                  <a:pt x="9157071" y="0"/>
                </a:lnTo>
                <a:lnTo>
                  <a:pt x="9157071" y="5613628"/>
                </a:lnTo>
                <a:lnTo>
                  <a:pt x="0" y="5613628"/>
                </a:lnTo>
                <a:lnTo>
                  <a:pt x="0" y="0"/>
                </a:lnTo>
                <a:close/>
              </a:path>
            </a:pathLst>
          </a:custGeom>
          <a:blipFill>
            <a:blip r:embed="rId3"/>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158920" y="3305078"/>
            <a:ext cx="7667069" cy="5414725"/>
          </a:xfrm>
          <a:custGeom>
            <a:avLst/>
            <a:gdLst/>
            <a:ahLst/>
            <a:cxnLst/>
            <a:rect r="r" b="b" t="t" l="l"/>
            <a:pathLst>
              <a:path h="5414725" w="7667069">
                <a:moveTo>
                  <a:pt x="0" y="0"/>
                </a:moveTo>
                <a:lnTo>
                  <a:pt x="7667069" y="0"/>
                </a:lnTo>
                <a:lnTo>
                  <a:pt x="7667069" y="5414726"/>
                </a:lnTo>
                <a:lnTo>
                  <a:pt x="0" y="5414726"/>
                </a:lnTo>
                <a:lnTo>
                  <a:pt x="0" y="0"/>
                </a:lnTo>
                <a:close/>
              </a:path>
            </a:pathLst>
          </a:custGeom>
          <a:blipFill>
            <a:blip r:embed="rId2"/>
            <a:stretch>
              <a:fillRect l="0" t="0" r="0" b="0"/>
            </a:stretch>
          </a:blipFill>
        </p:spPr>
      </p:sp>
      <p:sp>
        <p:nvSpPr>
          <p:cNvPr name="Freeform 3" id="3"/>
          <p:cNvSpPr/>
          <p:nvPr/>
        </p:nvSpPr>
        <p:spPr>
          <a:xfrm flipH="false" flipV="false" rot="0">
            <a:off x="9541232" y="3450141"/>
            <a:ext cx="6434164" cy="5269663"/>
          </a:xfrm>
          <a:custGeom>
            <a:avLst/>
            <a:gdLst/>
            <a:ahLst/>
            <a:cxnLst/>
            <a:rect r="r" b="b" t="t" l="l"/>
            <a:pathLst>
              <a:path h="5269663" w="6434164">
                <a:moveTo>
                  <a:pt x="0" y="0"/>
                </a:moveTo>
                <a:lnTo>
                  <a:pt x="6434164" y="0"/>
                </a:lnTo>
                <a:lnTo>
                  <a:pt x="6434164" y="5269663"/>
                </a:lnTo>
                <a:lnTo>
                  <a:pt x="0" y="5269663"/>
                </a:lnTo>
                <a:lnTo>
                  <a:pt x="0" y="0"/>
                </a:lnTo>
                <a:close/>
              </a:path>
            </a:pathLst>
          </a:custGeom>
          <a:blipFill>
            <a:blip r:embed="rId3"/>
            <a:stretch>
              <a:fillRect l="0" t="0" r="0" b="0"/>
            </a:stretch>
          </a:blipFill>
        </p:spPr>
      </p:sp>
      <p:sp>
        <p:nvSpPr>
          <p:cNvPr name="TextBox 4" id="4"/>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84137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6" id="6"/>
          <p:cNvSpPr txBox="true"/>
          <p:nvPr/>
        </p:nvSpPr>
        <p:spPr>
          <a:xfrm rot="0">
            <a:off x="2903690" y="1775669"/>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7" id="7"/>
          <p:cNvSpPr txBox="true"/>
          <p:nvPr/>
        </p:nvSpPr>
        <p:spPr>
          <a:xfrm rot="0">
            <a:off x="1158920" y="2480507"/>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B3</a:t>
            </a:r>
            <a:r>
              <a:rPr lang="en-US" b="true" sz="4200">
                <a:solidFill>
                  <a:srgbClr val="000000"/>
                </a:solidFill>
                <a:latin typeface="Roboto Bold"/>
                <a:ea typeface="Roboto Bold"/>
                <a:cs typeface="Roboto Bold"/>
                <a:sym typeface="Roboto Bold"/>
              </a:rPr>
              <a:t>: TẠO LOGIC VÀ UI</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2487419" y="3150672"/>
            <a:ext cx="7325491" cy="6107628"/>
          </a:xfrm>
          <a:custGeom>
            <a:avLst/>
            <a:gdLst/>
            <a:ahLst/>
            <a:cxnLst/>
            <a:rect r="r" b="b" t="t" l="l"/>
            <a:pathLst>
              <a:path h="6107628" w="7325491">
                <a:moveTo>
                  <a:pt x="0" y="0"/>
                </a:moveTo>
                <a:lnTo>
                  <a:pt x="7325491" y="0"/>
                </a:lnTo>
                <a:lnTo>
                  <a:pt x="7325491" y="6107628"/>
                </a:lnTo>
                <a:lnTo>
                  <a:pt x="0" y="6107628"/>
                </a:lnTo>
                <a:lnTo>
                  <a:pt x="0" y="0"/>
                </a:lnTo>
                <a:close/>
              </a:path>
            </a:pathLst>
          </a:custGeom>
          <a:blipFill>
            <a:blip r:embed="rId2"/>
            <a:stretch>
              <a:fillRect l="0" t="0" r="0" b="0"/>
            </a:stretch>
          </a:blipFill>
        </p:spPr>
      </p:sp>
      <p:sp>
        <p:nvSpPr>
          <p:cNvPr name="Freeform 3" id="3"/>
          <p:cNvSpPr/>
          <p:nvPr/>
        </p:nvSpPr>
        <p:spPr>
          <a:xfrm flipH="false" flipV="false" rot="0">
            <a:off x="10313990" y="3150672"/>
            <a:ext cx="6621594" cy="6107628"/>
          </a:xfrm>
          <a:custGeom>
            <a:avLst/>
            <a:gdLst/>
            <a:ahLst/>
            <a:cxnLst/>
            <a:rect r="r" b="b" t="t" l="l"/>
            <a:pathLst>
              <a:path h="6107628" w="6621594">
                <a:moveTo>
                  <a:pt x="0" y="0"/>
                </a:moveTo>
                <a:lnTo>
                  <a:pt x="6621593" y="0"/>
                </a:lnTo>
                <a:lnTo>
                  <a:pt x="6621593" y="6107628"/>
                </a:lnTo>
                <a:lnTo>
                  <a:pt x="0" y="6107628"/>
                </a:lnTo>
                <a:lnTo>
                  <a:pt x="0" y="0"/>
                </a:lnTo>
                <a:close/>
              </a:path>
            </a:pathLst>
          </a:custGeom>
          <a:blipFill>
            <a:blip r:embed="rId3"/>
            <a:stretch>
              <a:fillRect l="0" t="0" r="0" b="0"/>
            </a:stretch>
          </a:blipFill>
        </p:spPr>
      </p:sp>
      <p:sp>
        <p:nvSpPr>
          <p:cNvPr name="TextBox 4" id="4"/>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84137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6" id="6"/>
          <p:cNvSpPr txBox="true"/>
          <p:nvPr/>
        </p:nvSpPr>
        <p:spPr>
          <a:xfrm rot="0">
            <a:off x="2881180" y="1527163"/>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7" id="7"/>
          <p:cNvSpPr txBox="true"/>
          <p:nvPr/>
        </p:nvSpPr>
        <p:spPr>
          <a:xfrm rot="0">
            <a:off x="1158920" y="2232002"/>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B3</a:t>
            </a:r>
            <a:r>
              <a:rPr lang="en-US" b="true" sz="4200">
                <a:solidFill>
                  <a:srgbClr val="000000"/>
                </a:solidFill>
                <a:latin typeface="Roboto Bold"/>
                <a:ea typeface="Roboto Bold"/>
                <a:cs typeface="Roboto Bold"/>
                <a:sym typeface="Roboto Bold"/>
              </a:rPr>
              <a:t>: TẠO LOGIC VÀ UI</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2317350" y="3244383"/>
            <a:ext cx="6826650" cy="6229318"/>
          </a:xfrm>
          <a:custGeom>
            <a:avLst/>
            <a:gdLst/>
            <a:ahLst/>
            <a:cxnLst/>
            <a:rect r="r" b="b" t="t" l="l"/>
            <a:pathLst>
              <a:path h="6229318" w="6826650">
                <a:moveTo>
                  <a:pt x="0" y="0"/>
                </a:moveTo>
                <a:lnTo>
                  <a:pt x="6826650" y="0"/>
                </a:lnTo>
                <a:lnTo>
                  <a:pt x="6826650" y="6229318"/>
                </a:lnTo>
                <a:lnTo>
                  <a:pt x="0" y="6229318"/>
                </a:lnTo>
                <a:lnTo>
                  <a:pt x="0" y="0"/>
                </a:lnTo>
                <a:close/>
              </a:path>
            </a:pathLst>
          </a:custGeom>
          <a:blipFill>
            <a:blip r:embed="rId2"/>
            <a:stretch>
              <a:fillRect l="0" t="0" r="0" b="0"/>
            </a:stretch>
          </a:blipFill>
        </p:spPr>
      </p:sp>
      <p:sp>
        <p:nvSpPr>
          <p:cNvPr name="Freeform 3" id="3"/>
          <p:cNvSpPr/>
          <p:nvPr/>
        </p:nvSpPr>
        <p:spPr>
          <a:xfrm flipH="false" flipV="false" rot="0">
            <a:off x="10191948" y="3244383"/>
            <a:ext cx="4657115" cy="6281304"/>
          </a:xfrm>
          <a:custGeom>
            <a:avLst/>
            <a:gdLst/>
            <a:ahLst/>
            <a:cxnLst/>
            <a:rect r="r" b="b" t="t" l="l"/>
            <a:pathLst>
              <a:path h="6281304" w="4657115">
                <a:moveTo>
                  <a:pt x="0" y="0"/>
                </a:moveTo>
                <a:lnTo>
                  <a:pt x="4657115" y="0"/>
                </a:lnTo>
                <a:lnTo>
                  <a:pt x="4657115" y="6281305"/>
                </a:lnTo>
                <a:lnTo>
                  <a:pt x="0" y="6281305"/>
                </a:lnTo>
                <a:lnTo>
                  <a:pt x="0" y="0"/>
                </a:lnTo>
                <a:close/>
              </a:path>
            </a:pathLst>
          </a:custGeom>
          <a:blipFill>
            <a:blip r:embed="rId3"/>
            <a:stretch>
              <a:fillRect l="0" t="0" r="0" b="0"/>
            </a:stretch>
          </a:blipFill>
        </p:spPr>
      </p:sp>
      <p:sp>
        <p:nvSpPr>
          <p:cNvPr name="TextBox 4" id="4"/>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84137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6" id="6"/>
          <p:cNvSpPr txBox="true"/>
          <p:nvPr/>
        </p:nvSpPr>
        <p:spPr>
          <a:xfrm rot="0">
            <a:off x="2881180" y="1527163"/>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7" id="7"/>
          <p:cNvSpPr txBox="true"/>
          <p:nvPr/>
        </p:nvSpPr>
        <p:spPr>
          <a:xfrm rot="0">
            <a:off x="1158920" y="2232002"/>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B3</a:t>
            </a:r>
            <a:r>
              <a:rPr lang="en-US" b="true" sz="4200">
                <a:solidFill>
                  <a:srgbClr val="000000"/>
                </a:solidFill>
                <a:latin typeface="Roboto Bold"/>
                <a:ea typeface="Roboto Bold"/>
                <a:cs typeface="Roboto Bold"/>
                <a:sym typeface="Roboto Bold"/>
              </a:rPr>
              <a:t>: TẠO LOGIC VÀ UI</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71405"/>
            <a:ext cx="6241487" cy="6489493"/>
          </a:xfrm>
          <a:custGeom>
            <a:avLst/>
            <a:gdLst/>
            <a:ahLst/>
            <a:cxnLst/>
            <a:rect r="r" b="b" t="t" l="l"/>
            <a:pathLst>
              <a:path h="6489493" w="6241487">
                <a:moveTo>
                  <a:pt x="0" y="0"/>
                </a:moveTo>
                <a:lnTo>
                  <a:pt x="6241487" y="0"/>
                </a:lnTo>
                <a:lnTo>
                  <a:pt x="6241487" y="6489493"/>
                </a:lnTo>
                <a:lnTo>
                  <a:pt x="0" y="6489493"/>
                </a:lnTo>
                <a:lnTo>
                  <a:pt x="0" y="0"/>
                </a:lnTo>
                <a:close/>
              </a:path>
            </a:pathLst>
          </a:custGeom>
          <a:blipFill>
            <a:blip r:embed="rId2"/>
            <a:stretch>
              <a:fillRect l="0" t="0" r="0" b="0"/>
            </a:stretch>
          </a:blipFill>
        </p:spPr>
      </p:sp>
      <p:sp>
        <p:nvSpPr>
          <p:cNvPr name="Freeform 3" id="3"/>
          <p:cNvSpPr/>
          <p:nvPr/>
        </p:nvSpPr>
        <p:spPr>
          <a:xfrm flipH="false" flipV="false" rot="0">
            <a:off x="7439835" y="3171405"/>
            <a:ext cx="5332979" cy="6489493"/>
          </a:xfrm>
          <a:custGeom>
            <a:avLst/>
            <a:gdLst/>
            <a:ahLst/>
            <a:cxnLst/>
            <a:rect r="r" b="b" t="t" l="l"/>
            <a:pathLst>
              <a:path h="6489493" w="5332979">
                <a:moveTo>
                  <a:pt x="0" y="0"/>
                </a:moveTo>
                <a:lnTo>
                  <a:pt x="5332979" y="0"/>
                </a:lnTo>
                <a:lnTo>
                  <a:pt x="5332979" y="6489493"/>
                </a:lnTo>
                <a:lnTo>
                  <a:pt x="0" y="6489493"/>
                </a:lnTo>
                <a:lnTo>
                  <a:pt x="0" y="0"/>
                </a:lnTo>
                <a:close/>
              </a:path>
            </a:pathLst>
          </a:custGeom>
          <a:blipFill>
            <a:blip r:embed="rId3"/>
            <a:stretch>
              <a:fillRect l="-6640" t="0" r="0" b="0"/>
            </a:stretch>
          </a:blipFill>
        </p:spPr>
      </p:sp>
      <p:sp>
        <p:nvSpPr>
          <p:cNvPr name="Freeform 4" id="4"/>
          <p:cNvSpPr/>
          <p:nvPr/>
        </p:nvSpPr>
        <p:spPr>
          <a:xfrm flipH="false" flipV="false" rot="0">
            <a:off x="12772814" y="3237672"/>
            <a:ext cx="4815396" cy="6356958"/>
          </a:xfrm>
          <a:custGeom>
            <a:avLst/>
            <a:gdLst/>
            <a:ahLst/>
            <a:cxnLst/>
            <a:rect r="r" b="b" t="t" l="l"/>
            <a:pathLst>
              <a:path h="6356958" w="4815396">
                <a:moveTo>
                  <a:pt x="0" y="0"/>
                </a:moveTo>
                <a:lnTo>
                  <a:pt x="4815396" y="0"/>
                </a:lnTo>
                <a:lnTo>
                  <a:pt x="4815396" y="6356958"/>
                </a:lnTo>
                <a:lnTo>
                  <a:pt x="0" y="6356958"/>
                </a:lnTo>
                <a:lnTo>
                  <a:pt x="0" y="0"/>
                </a:lnTo>
                <a:close/>
              </a:path>
            </a:pathLst>
          </a:custGeom>
          <a:blipFill>
            <a:blip r:embed="rId4"/>
            <a:stretch>
              <a:fillRect l="0" t="0" r="0" b="0"/>
            </a:stretch>
          </a:blipFill>
        </p:spPr>
      </p:sp>
      <p:sp>
        <p:nvSpPr>
          <p:cNvPr name="TextBox 5" id="5"/>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6" id="6"/>
          <p:cNvSpPr txBox="true"/>
          <p:nvPr/>
        </p:nvSpPr>
        <p:spPr>
          <a:xfrm rot="0">
            <a:off x="742484" y="84137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7" id="7"/>
          <p:cNvSpPr txBox="true"/>
          <p:nvPr/>
        </p:nvSpPr>
        <p:spPr>
          <a:xfrm rot="0">
            <a:off x="2881180" y="1527163"/>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8" id="8"/>
          <p:cNvSpPr txBox="true"/>
          <p:nvPr/>
        </p:nvSpPr>
        <p:spPr>
          <a:xfrm rot="0">
            <a:off x="1158920" y="2232002"/>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B3</a:t>
            </a:r>
            <a:r>
              <a:rPr lang="en-US" b="true" sz="4200">
                <a:solidFill>
                  <a:srgbClr val="000000"/>
                </a:solidFill>
                <a:latin typeface="Roboto Bold"/>
                <a:ea typeface="Roboto Bold"/>
                <a:cs typeface="Roboto Bold"/>
                <a:sym typeface="Roboto Bold"/>
              </a:rPr>
              <a:t>: TẠO LOGIC VÀ UI</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05393"/>
            <a:ext cx="8446596" cy="5289681"/>
          </a:xfrm>
          <a:custGeom>
            <a:avLst/>
            <a:gdLst/>
            <a:ahLst/>
            <a:cxnLst/>
            <a:rect r="r" b="b" t="t" l="l"/>
            <a:pathLst>
              <a:path h="5289681" w="8446596">
                <a:moveTo>
                  <a:pt x="0" y="0"/>
                </a:moveTo>
                <a:lnTo>
                  <a:pt x="8446596" y="0"/>
                </a:lnTo>
                <a:lnTo>
                  <a:pt x="8446596" y="5289681"/>
                </a:lnTo>
                <a:lnTo>
                  <a:pt x="0" y="5289681"/>
                </a:lnTo>
                <a:lnTo>
                  <a:pt x="0" y="0"/>
                </a:lnTo>
                <a:close/>
              </a:path>
            </a:pathLst>
          </a:custGeom>
          <a:blipFill>
            <a:blip r:embed="rId2"/>
            <a:stretch>
              <a:fillRect l="0" t="0" r="0" b="0"/>
            </a:stretch>
          </a:blipFill>
        </p:spPr>
      </p:sp>
      <p:sp>
        <p:nvSpPr>
          <p:cNvPr name="Freeform 3" id="3"/>
          <p:cNvSpPr/>
          <p:nvPr/>
        </p:nvSpPr>
        <p:spPr>
          <a:xfrm flipH="false" flipV="false" rot="0">
            <a:off x="11029545" y="3509993"/>
            <a:ext cx="4861427" cy="5285080"/>
          </a:xfrm>
          <a:custGeom>
            <a:avLst/>
            <a:gdLst/>
            <a:ahLst/>
            <a:cxnLst/>
            <a:rect r="r" b="b" t="t" l="l"/>
            <a:pathLst>
              <a:path h="5285080" w="4861427">
                <a:moveTo>
                  <a:pt x="0" y="0"/>
                </a:moveTo>
                <a:lnTo>
                  <a:pt x="4861427" y="0"/>
                </a:lnTo>
                <a:lnTo>
                  <a:pt x="4861427" y="5285081"/>
                </a:lnTo>
                <a:lnTo>
                  <a:pt x="0" y="5285081"/>
                </a:lnTo>
                <a:lnTo>
                  <a:pt x="0" y="0"/>
                </a:lnTo>
                <a:close/>
              </a:path>
            </a:pathLst>
          </a:custGeom>
          <a:blipFill>
            <a:blip r:embed="rId3"/>
            <a:stretch>
              <a:fillRect l="0" t="0" r="0" b="0"/>
            </a:stretch>
          </a:blipFill>
        </p:spPr>
      </p:sp>
      <p:sp>
        <p:nvSpPr>
          <p:cNvPr name="TextBox 4" id="4"/>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84137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6" id="6"/>
          <p:cNvSpPr txBox="true"/>
          <p:nvPr/>
        </p:nvSpPr>
        <p:spPr>
          <a:xfrm rot="0">
            <a:off x="2881180" y="1527163"/>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7" id="7"/>
          <p:cNvSpPr txBox="true"/>
          <p:nvPr/>
        </p:nvSpPr>
        <p:spPr>
          <a:xfrm rot="0">
            <a:off x="1158920" y="2232002"/>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B3</a:t>
            </a:r>
            <a:r>
              <a:rPr lang="en-US" b="true" sz="4200">
                <a:solidFill>
                  <a:srgbClr val="000000"/>
                </a:solidFill>
                <a:latin typeface="Roboto Bold"/>
                <a:ea typeface="Roboto Bold"/>
                <a:cs typeface="Roboto Bold"/>
                <a:sym typeface="Roboto Bold"/>
              </a:rPr>
              <a:t>: TẠO LOGIC VÀ UI</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812056" y="2953985"/>
            <a:ext cx="5992355" cy="6383334"/>
          </a:xfrm>
          <a:custGeom>
            <a:avLst/>
            <a:gdLst/>
            <a:ahLst/>
            <a:cxnLst/>
            <a:rect r="r" b="b" t="t" l="l"/>
            <a:pathLst>
              <a:path h="6383334" w="5992355">
                <a:moveTo>
                  <a:pt x="0" y="0"/>
                </a:moveTo>
                <a:lnTo>
                  <a:pt x="5992355" y="0"/>
                </a:lnTo>
                <a:lnTo>
                  <a:pt x="5992355" y="6383334"/>
                </a:lnTo>
                <a:lnTo>
                  <a:pt x="0" y="6383334"/>
                </a:lnTo>
                <a:lnTo>
                  <a:pt x="0" y="0"/>
                </a:lnTo>
                <a:close/>
              </a:path>
            </a:pathLst>
          </a:custGeom>
          <a:blipFill>
            <a:blip r:embed="rId2"/>
            <a:stretch>
              <a:fillRect l="0" t="0" r="0" b="0"/>
            </a:stretch>
          </a:blipFill>
        </p:spPr>
      </p:sp>
      <p:sp>
        <p:nvSpPr>
          <p:cNvPr name="Freeform 3" id="3"/>
          <p:cNvSpPr/>
          <p:nvPr/>
        </p:nvSpPr>
        <p:spPr>
          <a:xfrm flipH="false" flipV="false" rot="0">
            <a:off x="7804411" y="2980361"/>
            <a:ext cx="4592902" cy="6356958"/>
          </a:xfrm>
          <a:custGeom>
            <a:avLst/>
            <a:gdLst/>
            <a:ahLst/>
            <a:cxnLst/>
            <a:rect r="r" b="b" t="t" l="l"/>
            <a:pathLst>
              <a:path h="6356958" w="4592902">
                <a:moveTo>
                  <a:pt x="0" y="0"/>
                </a:moveTo>
                <a:lnTo>
                  <a:pt x="4592902" y="0"/>
                </a:lnTo>
                <a:lnTo>
                  <a:pt x="4592902" y="6356958"/>
                </a:lnTo>
                <a:lnTo>
                  <a:pt x="0" y="6356958"/>
                </a:lnTo>
                <a:lnTo>
                  <a:pt x="0" y="0"/>
                </a:lnTo>
                <a:close/>
              </a:path>
            </a:pathLst>
          </a:custGeom>
          <a:blipFill>
            <a:blip r:embed="rId3"/>
            <a:stretch>
              <a:fillRect l="0" t="0" r="0" b="0"/>
            </a:stretch>
          </a:blipFill>
        </p:spPr>
      </p:sp>
      <p:sp>
        <p:nvSpPr>
          <p:cNvPr name="Freeform 4" id="4"/>
          <p:cNvSpPr/>
          <p:nvPr/>
        </p:nvSpPr>
        <p:spPr>
          <a:xfrm flipH="false" flipV="false" rot="0">
            <a:off x="12397313" y="2980361"/>
            <a:ext cx="4926643" cy="6356958"/>
          </a:xfrm>
          <a:custGeom>
            <a:avLst/>
            <a:gdLst/>
            <a:ahLst/>
            <a:cxnLst/>
            <a:rect r="r" b="b" t="t" l="l"/>
            <a:pathLst>
              <a:path h="6356958" w="4926643">
                <a:moveTo>
                  <a:pt x="0" y="0"/>
                </a:moveTo>
                <a:lnTo>
                  <a:pt x="4926643" y="0"/>
                </a:lnTo>
                <a:lnTo>
                  <a:pt x="4926643" y="6356958"/>
                </a:lnTo>
                <a:lnTo>
                  <a:pt x="0" y="6356958"/>
                </a:lnTo>
                <a:lnTo>
                  <a:pt x="0" y="0"/>
                </a:lnTo>
                <a:close/>
              </a:path>
            </a:pathLst>
          </a:custGeom>
          <a:blipFill>
            <a:blip r:embed="rId4"/>
            <a:stretch>
              <a:fillRect l="0" t="0" r="0" b="0"/>
            </a:stretch>
          </a:blipFill>
        </p:spPr>
      </p:sp>
      <p:sp>
        <p:nvSpPr>
          <p:cNvPr name="TextBox 5" id="5"/>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6" id="6"/>
          <p:cNvSpPr txBox="true"/>
          <p:nvPr/>
        </p:nvSpPr>
        <p:spPr>
          <a:xfrm rot="0">
            <a:off x="742484" y="84137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7" id="7"/>
          <p:cNvSpPr txBox="true"/>
          <p:nvPr/>
        </p:nvSpPr>
        <p:spPr>
          <a:xfrm rot="0">
            <a:off x="2881180" y="1527163"/>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8" id="8"/>
          <p:cNvSpPr txBox="true"/>
          <p:nvPr/>
        </p:nvSpPr>
        <p:spPr>
          <a:xfrm rot="0">
            <a:off x="1158920" y="2232002"/>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B3</a:t>
            </a:r>
            <a:r>
              <a:rPr lang="en-US" b="true" sz="4200">
                <a:solidFill>
                  <a:srgbClr val="000000"/>
                </a:solidFill>
                <a:latin typeface="Roboto Bold"/>
                <a:ea typeface="Roboto Bold"/>
                <a:cs typeface="Roboto Bold"/>
                <a:sym typeface="Roboto Bold"/>
              </a:rPr>
              <a:t>: TẠO LOGIC VÀ UI</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5740136" y="3071897"/>
            <a:ext cx="7120192" cy="7017299"/>
          </a:xfrm>
          <a:custGeom>
            <a:avLst/>
            <a:gdLst/>
            <a:ahLst/>
            <a:cxnLst/>
            <a:rect r="r" b="b" t="t" l="l"/>
            <a:pathLst>
              <a:path h="7017299" w="7120192">
                <a:moveTo>
                  <a:pt x="0" y="0"/>
                </a:moveTo>
                <a:lnTo>
                  <a:pt x="7120192" y="0"/>
                </a:lnTo>
                <a:lnTo>
                  <a:pt x="7120192" y="7017299"/>
                </a:lnTo>
                <a:lnTo>
                  <a:pt x="0" y="7017299"/>
                </a:lnTo>
                <a:lnTo>
                  <a:pt x="0" y="0"/>
                </a:lnTo>
                <a:close/>
              </a:path>
            </a:pathLst>
          </a:custGeom>
          <a:blipFill>
            <a:blip r:embed="rId2"/>
            <a:stretch>
              <a:fillRect l="0" t="0" r="0" b="0"/>
            </a:stretch>
          </a:blipFill>
        </p:spPr>
      </p:sp>
      <p:sp>
        <p:nvSpPr>
          <p:cNvPr name="TextBox 3" id="3"/>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4" id="4"/>
          <p:cNvSpPr txBox="true"/>
          <p:nvPr/>
        </p:nvSpPr>
        <p:spPr>
          <a:xfrm rot="0">
            <a:off x="742484" y="84137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1.6 DEMO DỰ ÁN THỰC TẾ SỬ DỤNG SQLITE</a:t>
            </a:r>
          </a:p>
        </p:txBody>
      </p:sp>
      <p:sp>
        <p:nvSpPr>
          <p:cNvPr name="TextBox 5" id="5"/>
          <p:cNvSpPr txBox="true"/>
          <p:nvPr/>
        </p:nvSpPr>
        <p:spPr>
          <a:xfrm rot="0">
            <a:off x="2881180" y="1527163"/>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
        <p:nvSpPr>
          <p:cNvPr name="TextBox 6" id="6"/>
          <p:cNvSpPr txBox="true"/>
          <p:nvPr/>
        </p:nvSpPr>
        <p:spPr>
          <a:xfrm rot="0">
            <a:off x="1158920" y="2232002"/>
            <a:ext cx="1293082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B3</a:t>
            </a:r>
            <a:r>
              <a:rPr lang="en-US" b="true" sz="4200">
                <a:solidFill>
                  <a:srgbClr val="000000"/>
                </a:solidFill>
                <a:latin typeface="Roboto Bold"/>
                <a:ea typeface="Roboto Bold"/>
                <a:cs typeface="Roboto Bold"/>
                <a:sym typeface="Roboto Bold"/>
              </a:rPr>
              <a:t>: TẠO LOGIC VÀ UI</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8873880" y="3199314"/>
            <a:ext cx="9152537" cy="4968855"/>
          </a:xfrm>
          <a:custGeom>
            <a:avLst/>
            <a:gdLst/>
            <a:ahLst/>
            <a:cxnLst/>
            <a:rect r="r" b="b" t="t" l="l"/>
            <a:pathLst>
              <a:path h="4968855" w="9152537">
                <a:moveTo>
                  <a:pt x="0" y="0"/>
                </a:moveTo>
                <a:lnTo>
                  <a:pt x="9152537" y="0"/>
                </a:lnTo>
                <a:lnTo>
                  <a:pt x="9152537" y="4968854"/>
                </a:lnTo>
                <a:lnTo>
                  <a:pt x="0" y="4968854"/>
                </a:lnTo>
                <a:lnTo>
                  <a:pt x="0" y="0"/>
                </a:lnTo>
                <a:close/>
              </a:path>
            </a:pathLst>
          </a:custGeom>
          <a:blipFill>
            <a:blip r:embed="rId2"/>
            <a:stretch>
              <a:fillRect l="-7360" t="0" r="-2040" b="0"/>
            </a:stretch>
          </a:blipFill>
        </p:spPr>
      </p:sp>
      <p:sp>
        <p:nvSpPr>
          <p:cNvPr name="Freeform 3" id="3"/>
          <p:cNvSpPr/>
          <p:nvPr/>
        </p:nvSpPr>
        <p:spPr>
          <a:xfrm flipH="false" flipV="false" rot="0">
            <a:off x="326049" y="3199314"/>
            <a:ext cx="8168312" cy="4968855"/>
          </a:xfrm>
          <a:custGeom>
            <a:avLst/>
            <a:gdLst/>
            <a:ahLst/>
            <a:cxnLst/>
            <a:rect r="r" b="b" t="t" l="l"/>
            <a:pathLst>
              <a:path h="4968855" w="8168312">
                <a:moveTo>
                  <a:pt x="0" y="0"/>
                </a:moveTo>
                <a:lnTo>
                  <a:pt x="8168312" y="0"/>
                </a:lnTo>
                <a:lnTo>
                  <a:pt x="8168312" y="4968854"/>
                </a:lnTo>
                <a:lnTo>
                  <a:pt x="0" y="4968854"/>
                </a:lnTo>
                <a:lnTo>
                  <a:pt x="0" y="0"/>
                </a:lnTo>
                <a:close/>
              </a:path>
            </a:pathLst>
          </a:custGeom>
          <a:blipFill>
            <a:blip r:embed="rId3"/>
            <a:stretch>
              <a:fillRect l="0" t="0" r="0" b="0"/>
            </a:stretch>
          </a:blipFill>
        </p:spPr>
      </p:sp>
      <p:sp>
        <p:nvSpPr>
          <p:cNvPr name="TextBox 4" id="4"/>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5" id="5"/>
          <p:cNvSpPr txBox="true"/>
          <p:nvPr/>
        </p:nvSpPr>
        <p:spPr>
          <a:xfrm rot="0">
            <a:off x="742484" y="84137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1.7 KẾT QUẢ DEMO</a:t>
            </a:r>
          </a:p>
        </p:txBody>
      </p:sp>
      <p:sp>
        <p:nvSpPr>
          <p:cNvPr name="TextBox 6" id="6"/>
          <p:cNvSpPr txBox="true"/>
          <p:nvPr/>
        </p:nvSpPr>
        <p:spPr>
          <a:xfrm rot="0">
            <a:off x="2881180" y="1527163"/>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490345" y="2317727"/>
            <a:ext cx="3471928" cy="7141445"/>
          </a:xfrm>
          <a:custGeom>
            <a:avLst/>
            <a:gdLst/>
            <a:ahLst/>
            <a:cxnLst/>
            <a:rect r="r" b="b" t="t" l="l"/>
            <a:pathLst>
              <a:path h="7141445" w="3471928">
                <a:moveTo>
                  <a:pt x="0" y="0"/>
                </a:moveTo>
                <a:lnTo>
                  <a:pt x="3471928" y="0"/>
                </a:lnTo>
                <a:lnTo>
                  <a:pt x="3471928" y="7141445"/>
                </a:lnTo>
                <a:lnTo>
                  <a:pt x="0" y="7141445"/>
                </a:lnTo>
                <a:lnTo>
                  <a:pt x="0" y="0"/>
                </a:lnTo>
                <a:close/>
              </a:path>
            </a:pathLst>
          </a:custGeom>
          <a:blipFill>
            <a:blip r:embed="rId2"/>
            <a:stretch>
              <a:fillRect l="0" t="0" r="0" b="0"/>
            </a:stretch>
          </a:blipFill>
        </p:spPr>
      </p:sp>
      <p:sp>
        <p:nvSpPr>
          <p:cNvPr name="Freeform 3" id="3"/>
          <p:cNvSpPr/>
          <p:nvPr/>
        </p:nvSpPr>
        <p:spPr>
          <a:xfrm flipH="false" flipV="false" rot="0">
            <a:off x="4962273" y="2317727"/>
            <a:ext cx="4541959" cy="7141445"/>
          </a:xfrm>
          <a:custGeom>
            <a:avLst/>
            <a:gdLst/>
            <a:ahLst/>
            <a:cxnLst/>
            <a:rect r="r" b="b" t="t" l="l"/>
            <a:pathLst>
              <a:path h="7141445" w="4541959">
                <a:moveTo>
                  <a:pt x="0" y="0"/>
                </a:moveTo>
                <a:lnTo>
                  <a:pt x="4541959" y="0"/>
                </a:lnTo>
                <a:lnTo>
                  <a:pt x="4541959" y="7141445"/>
                </a:lnTo>
                <a:lnTo>
                  <a:pt x="0" y="7141445"/>
                </a:lnTo>
                <a:lnTo>
                  <a:pt x="0" y="0"/>
                </a:lnTo>
                <a:close/>
              </a:path>
            </a:pathLst>
          </a:custGeom>
          <a:blipFill>
            <a:blip r:embed="rId3"/>
            <a:stretch>
              <a:fillRect l="0" t="0" r="0" b="0"/>
            </a:stretch>
          </a:blipFill>
        </p:spPr>
      </p:sp>
      <p:sp>
        <p:nvSpPr>
          <p:cNvPr name="Freeform 4" id="4"/>
          <p:cNvSpPr/>
          <p:nvPr/>
        </p:nvSpPr>
        <p:spPr>
          <a:xfrm flipH="false" flipV="false" rot="0">
            <a:off x="9504232" y="2773162"/>
            <a:ext cx="4338505" cy="3295367"/>
          </a:xfrm>
          <a:custGeom>
            <a:avLst/>
            <a:gdLst/>
            <a:ahLst/>
            <a:cxnLst/>
            <a:rect r="r" b="b" t="t" l="l"/>
            <a:pathLst>
              <a:path h="3295367" w="4338505">
                <a:moveTo>
                  <a:pt x="0" y="0"/>
                </a:moveTo>
                <a:lnTo>
                  <a:pt x="4338506" y="0"/>
                </a:lnTo>
                <a:lnTo>
                  <a:pt x="4338506" y="3295368"/>
                </a:lnTo>
                <a:lnTo>
                  <a:pt x="0" y="3295368"/>
                </a:lnTo>
                <a:lnTo>
                  <a:pt x="0" y="0"/>
                </a:lnTo>
                <a:close/>
              </a:path>
            </a:pathLst>
          </a:custGeom>
          <a:blipFill>
            <a:blip r:embed="rId4"/>
            <a:stretch>
              <a:fillRect l="0" t="0" r="0" b="0"/>
            </a:stretch>
          </a:blipFill>
        </p:spPr>
      </p:sp>
      <p:sp>
        <p:nvSpPr>
          <p:cNvPr name="Freeform 5" id="5"/>
          <p:cNvSpPr/>
          <p:nvPr/>
        </p:nvSpPr>
        <p:spPr>
          <a:xfrm flipH="false" flipV="false" rot="0">
            <a:off x="9504232" y="6068530"/>
            <a:ext cx="4338505" cy="3295367"/>
          </a:xfrm>
          <a:custGeom>
            <a:avLst/>
            <a:gdLst/>
            <a:ahLst/>
            <a:cxnLst/>
            <a:rect r="r" b="b" t="t" l="l"/>
            <a:pathLst>
              <a:path h="3295367" w="4338505">
                <a:moveTo>
                  <a:pt x="0" y="0"/>
                </a:moveTo>
                <a:lnTo>
                  <a:pt x="4338506" y="0"/>
                </a:lnTo>
                <a:lnTo>
                  <a:pt x="4338506" y="3295367"/>
                </a:lnTo>
                <a:lnTo>
                  <a:pt x="0" y="3295367"/>
                </a:lnTo>
                <a:lnTo>
                  <a:pt x="0" y="0"/>
                </a:lnTo>
                <a:close/>
              </a:path>
            </a:pathLst>
          </a:custGeom>
          <a:blipFill>
            <a:blip r:embed="rId5"/>
            <a:stretch>
              <a:fillRect l="0" t="0" r="0" b="0"/>
            </a:stretch>
          </a:blipFill>
        </p:spPr>
      </p:sp>
      <p:sp>
        <p:nvSpPr>
          <p:cNvPr name="Freeform 6" id="6"/>
          <p:cNvSpPr/>
          <p:nvPr/>
        </p:nvSpPr>
        <p:spPr>
          <a:xfrm flipH="false" flipV="false" rot="0">
            <a:off x="13842738" y="2929903"/>
            <a:ext cx="4095996" cy="2981885"/>
          </a:xfrm>
          <a:custGeom>
            <a:avLst/>
            <a:gdLst/>
            <a:ahLst/>
            <a:cxnLst/>
            <a:rect r="r" b="b" t="t" l="l"/>
            <a:pathLst>
              <a:path h="2981885" w="4095996">
                <a:moveTo>
                  <a:pt x="0" y="0"/>
                </a:moveTo>
                <a:lnTo>
                  <a:pt x="4095996" y="0"/>
                </a:lnTo>
                <a:lnTo>
                  <a:pt x="4095996" y="2981886"/>
                </a:lnTo>
                <a:lnTo>
                  <a:pt x="0" y="2981886"/>
                </a:lnTo>
                <a:lnTo>
                  <a:pt x="0" y="0"/>
                </a:lnTo>
                <a:close/>
              </a:path>
            </a:pathLst>
          </a:custGeom>
          <a:blipFill>
            <a:blip r:embed="rId6"/>
            <a:stretch>
              <a:fillRect l="0" t="0" r="0" b="0"/>
            </a:stretch>
          </a:blipFill>
        </p:spPr>
      </p:sp>
      <p:sp>
        <p:nvSpPr>
          <p:cNvPr name="Freeform 7" id="7"/>
          <p:cNvSpPr/>
          <p:nvPr/>
        </p:nvSpPr>
        <p:spPr>
          <a:xfrm flipH="false" flipV="false" rot="0">
            <a:off x="13842738" y="6068530"/>
            <a:ext cx="3241218" cy="3189770"/>
          </a:xfrm>
          <a:custGeom>
            <a:avLst/>
            <a:gdLst/>
            <a:ahLst/>
            <a:cxnLst/>
            <a:rect r="r" b="b" t="t" l="l"/>
            <a:pathLst>
              <a:path h="3189770" w="3241218">
                <a:moveTo>
                  <a:pt x="0" y="0"/>
                </a:moveTo>
                <a:lnTo>
                  <a:pt x="3241218" y="0"/>
                </a:lnTo>
                <a:lnTo>
                  <a:pt x="3241218" y="3189770"/>
                </a:lnTo>
                <a:lnTo>
                  <a:pt x="0" y="3189770"/>
                </a:lnTo>
                <a:lnTo>
                  <a:pt x="0" y="0"/>
                </a:lnTo>
                <a:close/>
              </a:path>
            </a:pathLst>
          </a:custGeom>
          <a:blipFill>
            <a:blip r:embed="rId7"/>
            <a:stretch>
              <a:fillRect l="0" t="0" r="0" b="0"/>
            </a:stretch>
          </a:blipFill>
        </p:spPr>
      </p:sp>
      <p:sp>
        <p:nvSpPr>
          <p:cNvPr name="TextBox 8" id="8"/>
          <p:cNvSpPr txBox="true"/>
          <p:nvPr/>
        </p:nvSpPr>
        <p:spPr>
          <a:xfrm rot="0">
            <a:off x="326049" y="10"/>
            <a:ext cx="13763692" cy="946139"/>
          </a:xfrm>
          <a:prstGeom prst="rect">
            <a:avLst/>
          </a:prstGeom>
        </p:spPr>
        <p:txBody>
          <a:bodyPr anchor="t" rtlCol="false" tIns="0" lIns="0" bIns="0" rIns="0">
            <a:spAutoFit/>
          </a:bodyPr>
          <a:lstStyle/>
          <a:p>
            <a:pPr algn="l">
              <a:lnSpc>
                <a:spcPts val="7700"/>
              </a:lnSpc>
            </a:pPr>
            <a:r>
              <a:rPr lang="en-US" sz="5500" b="true">
                <a:solidFill>
                  <a:srgbClr val="000000"/>
                </a:solidFill>
                <a:latin typeface="Roboto Bold"/>
                <a:ea typeface="Roboto Bold"/>
                <a:cs typeface="Roboto Bold"/>
                <a:sym typeface="Roboto Bold"/>
              </a:rPr>
              <a:t>1.SQLITE</a:t>
            </a:r>
          </a:p>
        </p:txBody>
      </p:sp>
      <p:sp>
        <p:nvSpPr>
          <p:cNvPr name="TextBox 9" id="9"/>
          <p:cNvSpPr txBox="true"/>
          <p:nvPr/>
        </p:nvSpPr>
        <p:spPr>
          <a:xfrm rot="0">
            <a:off x="742484" y="841375"/>
            <a:ext cx="12930821" cy="790564"/>
          </a:xfrm>
          <a:prstGeom prst="rect">
            <a:avLst/>
          </a:prstGeom>
        </p:spPr>
        <p:txBody>
          <a:bodyPr anchor="t" rtlCol="false" tIns="0" lIns="0" bIns="0" rIns="0">
            <a:spAutoFit/>
          </a:bodyPr>
          <a:lstStyle/>
          <a:p>
            <a:pPr algn="l">
              <a:lnSpc>
                <a:spcPts val="6300"/>
              </a:lnSpc>
            </a:pPr>
            <a:r>
              <a:rPr lang="en-US" sz="4500" b="true">
                <a:solidFill>
                  <a:srgbClr val="000000"/>
                </a:solidFill>
                <a:latin typeface="Roboto Bold"/>
                <a:ea typeface="Roboto Bold"/>
                <a:cs typeface="Roboto Bold"/>
                <a:sym typeface="Roboto Bold"/>
              </a:rPr>
              <a:t>1.7 KẾT QUẢ DEMO</a:t>
            </a:r>
          </a:p>
        </p:txBody>
      </p:sp>
      <p:sp>
        <p:nvSpPr>
          <p:cNvPr name="TextBox 10" id="10"/>
          <p:cNvSpPr txBox="true"/>
          <p:nvPr/>
        </p:nvSpPr>
        <p:spPr>
          <a:xfrm rot="0">
            <a:off x="2881180" y="1527163"/>
            <a:ext cx="12930821" cy="790564"/>
          </a:xfrm>
          <a:prstGeom prst="rect">
            <a:avLst/>
          </a:prstGeom>
        </p:spPr>
        <p:txBody>
          <a:bodyPr anchor="t" rtlCol="false" tIns="0" lIns="0" bIns="0" rIns="0">
            <a:spAutoFit/>
          </a:bodyPr>
          <a:lstStyle/>
          <a:p>
            <a:pPr algn="l">
              <a:lnSpc>
                <a:spcPts val="6300"/>
              </a:lnSpc>
            </a:pPr>
            <a:r>
              <a:rPr lang="en-US" b="true" sz="4500">
                <a:solidFill>
                  <a:srgbClr val="9E99D6"/>
                </a:solidFill>
                <a:latin typeface="Roboto Bold"/>
                <a:ea typeface="Roboto Bold"/>
                <a:cs typeface="Roboto Bold"/>
                <a:sym typeface="Roboto Bold"/>
              </a:rPr>
              <a:t>QUẢN LÝ CỬA HÀNG LINH KIỆN ĐIỆN TỬ</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3198808" y="2138336"/>
            <a:ext cx="11890384" cy="6691043"/>
          </a:xfrm>
          <a:custGeom>
            <a:avLst/>
            <a:gdLst/>
            <a:ahLst/>
            <a:cxnLst/>
            <a:rect r="r" b="b" t="t" l="l"/>
            <a:pathLst>
              <a:path h="6691043" w="11890384">
                <a:moveTo>
                  <a:pt x="0" y="0"/>
                </a:moveTo>
                <a:lnTo>
                  <a:pt x="11890384" y="0"/>
                </a:lnTo>
                <a:lnTo>
                  <a:pt x="11890384" y="6691043"/>
                </a:lnTo>
                <a:lnTo>
                  <a:pt x="0" y="6691043"/>
                </a:lnTo>
                <a:lnTo>
                  <a:pt x="0" y="0"/>
                </a:lnTo>
                <a:close/>
              </a:path>
            </a:pathLst>
          </a:custGeom>
          <a:blipFill>
            <a:blip r:embed="rId2"/>
            <a:stretch>
              <a:fillRect l="0" t="0" r="0" b="0"/>
            </a:stretch>
          </a:blipFill>
        </p:spPr>
      </p:sp>
      <p:sp>
        <p:nvSpPr>
          <p:cNvPr name="TextBox 3" id="3"/>
          <p:cNvSpPr txBox="true"/>
          <p:nvPr/>
        </p:nvSpPr>
        <p:spPr>
          <a:xfrm rot="0">
            <a:off x="500044" y="203202"/>
            <a:ext cx="9126624" cy="1470022"/>
          </a:xfrm>
          <a:prstGeom prst="rect">
            <a:avLst/>
          </a:prstGeom>
        </p:spPr>
        <p:txBody>
          <a:bodyPr anchor="t" rtlCol="false" tIns="0" lIns="0" bIns="0" rIns="0">
            <a:spAutoFit/>
          </a:bodyPr>
          <a:lstStyle/>
          <a:p>
            <a:pPr algn="l">
              <a:lnSpc>
                <a:spcPts val="11900"/>
              </a:lnSpc>
            </a:pPr>
            <a:r>
              <a:rPr lang="en-US" sz="8500" b="true">
                <a:solidFill>
                  <a:srgbClr val="000000"/>
                </a:solidFill>
                <a:latin typeface="Roboto Bold"/>
                <a:ea typeface="Roboto Bold"/>
                <a:cs typeface="Roboto Bold"/>
                <a:sym typeface="Roboto Bold"/>
              </a:rPr>
              <a:t>2. DRIFT (MOOR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500044" y="203202"/>
            <a:ext cx="9126624" cy="1470022"/>
          </a:xfrm>
          <a:prstGeom prst="rect">
            <a:avLst/>
          </a:prstGeom>
        </p:spPr>
        <p:txBody>
          <a:bodyPr anchor="t" rtlCol="false" tIns="0" lIns="0" bIns="0" rIns="0">
            <a:spAutoFit/>
          </a:bodyPr>
          <a:lstStyle/>
          <a:p>
            <a:pPr algn="l">
              <a:lnSpc>
                <a:spcPts val="11900"/>
              </a:lnSpc>
            </a:pPr>
            <a:r>
              <a:rPr lang="en-US" sz="8500" b="true">
                <a:solidFill>
                  <a:srgbClr val="000000"/>
                </a:solidFill>
                <a:latin typeface="Roboto Bold"/>
                <a:ea typeface="Roboto Bold"/>
                <a:cs typeface="Roboto Bold"/>
                <a:sym typeface="Roboto Bold"/>
              </a:rPr>
              <a:t>2. DRIFT (MOOR )</a:t>
            </a:r>
          </a:p>
        </p:txBody>
      </p:sp>
      <p:sp>
        <p:nvSpPr>
          <p:cNvPr name="TextBox 4" id="4"/>
          <p:cNvSpPr txBox="true"/>
          <p:nvPr/>
        </p:nvSpPr>
        <p:spPr>
          <a:xfrm rot="0">
            <a:off x="500044" y="1761032"/>
            <a:ext cx="6808090"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2.1) GIỚI THIỆU: </a:t>
            </a:r>
          </a:p>
        </p:txBody>
      </p:sp>
      <p:sp>
        <p:nvSpPr>
          <p:cNvPr name="TextBox 5" id="5"/>
          <p:cNvSpPr txBox="true"/>
          <p:nvPr/>
        </p:nvSpPr>
        <p:spPr>
          <a:xfrm rot="0">
            <a:off x="500044" y="3236625"/>
            <a:ext cx="16487407" cy="1590664"/>
          </a:xfrm>
          <a:prstGeom prst="rect">
            <a:avLst/>
          </a:prstGeom>
        </p:spPr>
        <p:txBody>
          <a:bodyPr anchor="t" rtlCol="false" tIns="0" lIns="0" bIns="0" rIns="0">
            <a:spAutoFit/>
          </a:bodyPr>
          <a:lstStyle/>
          <a:p>
            <a:pPr algn="l" marL="971647" indent="-485824" lvl="1">
              <a:lnSpc>
                <a:spcPts val="6300"/>
              </a:lnSpc>
              <a:buFont typeface="Arial"/>
              <a:buChar char="•"/>
            </a:pPr>
            <a:r>
              <a:rPr lang="en-US" sz="4500">
                <a:solidFill>
                  <a:srgbClr val="000000"/>
                </a:solidFill>
                <a:latin typeface="Roboto"/>
                <a:ea typeface="Roboto"/>
                <a:cs typeface="Roboto"/>
                <a:sym typeface="Roboto"/>
              </a:rPr>
              <a:t>Drift là một thư viện ORM (Object-Relational Mapping) mạnh mẽ xây dựng trên SQLite.</a:t>
            </a:r>
          </a:p>
        </p:txBody>
      </p:sp>
      <p:sp>
        <p:nvSpPr>
          <p:cNvPr name="TextBox 6" id="6"/>
          <p:cNvSpPr txBox="true"/>
          <p:nvPr/>
        </p:nvSpPr>
        <p:spPr>
          <a:xfrm rot="0">
            <a:off x="500044" y="5207782"/>
            <a:ext cx="16487407" cy="1590664"/>
          </a:xfrm>
          <a:prstGeom prst="rect">
            <a:avLst/>
          </a:prstGeom>
        </p:spPr>
        <p:txBody>
          <a:bodyPr anchor="t" rtlCol="false" tIns="0" lIns="0" bIns="0" rIns="0">
            <a:spAutoFit/>
          </a:bodyPr>
          <a:lstStyle/>
          <a:p>
            <a:pPr algn="l" marL="971647" indent="-485824" lvl="1">
              <a:lnSpc>
                <a:spcPts val="6300"/>
              </a:lnSpc>
              <a:buFont typeface="Arial"/>
              <a:buChar char="•"/>
            </a:pPr>
            <a:r>
              <a:rPr lang="en-US" sz="4500">
                <a:solidFill>
                  <a:srgbClr val="000000"/>
                </a:solidFill>
                <a:latin typeface="Roboto"/>
                <a:ea typeface="Roboto"/>
                <a:cs typeface="Roboto"/>
                <a:sym typeface="Roboto"/>
              </a:rPr>
              <a:t>Cung cấp API Dart an toàn kiểu (type-safe) để viết truy vấn, không cần SQL thuần.</a:t>
            </a:r>
          </a:p>
        </p:txBody>
      </p:sp>
      <p:sp>
        <p:nvSpPr>
          <p:cNvPr name="TextBox 7" id="7"/>
          <p:cNvSpPr txBox="true"/>
          <p:nvPr/>
        </p:nvSpPr>
        <p:spPr>
          <a:xfrm rot="0">
            <a:off x="500044" y="7178938"/>
            <a:ext cx="17230238" cy="790564"/>
          </a:xfrm>
          <a:prstGeom prst="rect">
            <a:avLst/>
          </a:prstGeom>
        </p:spPr>
        <p:txBody>
          <a:bodyPr anchor="t" rtlCol="false" tIns="0" lIns="0" bIns="0" rIns="0">
            <a:spAutoFit/>
          </a:bodyPr>
          <a:lstStyle/>
          <a:p>
            <a:pPr algn="l" marL="971647" indent="-485824" lvl="1">
              <a:lnSpc>
                <a:spcPts val="6300"/>
              </a:lnSpc>
              <a:buFont typeface="Arial"/>
              <a:buChar char="•"/>
            </a:pPr>
            <a:r>
              <a:rPr lang="en-US" sz="4500">
                <a:solidFill>
                  <a:srgbClr val="000000"/>
                </a:solidFill>
                <a:latin typeface="Roboto"/>
                <a:ea typeface="Roboto"/>
                <a:cs typeface="Roboto"/>
                <a:sym typeface="Roboto"/>
              </a:rPr>
              <a:t>Hỗ trợ streams, migrations tự động và các tính năng nâng cao.</a:t>
            </a:r>
          </a:p>
        </p:txBody>
      </p:sp>
      <p:sp>
        <p:nvSpPr>
          <p:cNvPr name="TextBox 8" id="8"/>
          <p:cNvSpPr txBox="true"/>
          <p:nvPr/>
        </p:nvSpPr>
        <p:spPr>
          <a:xfrm rot="0">
            <a:off x="500044" y="8350502"/>
            <a:ext cx="16487407" cy="790564"/>
          </a:xfrm>
          <a:prstGeom prst="rect">
            <a:avLst/>
          </a:prstGeom>
        </p:spPr>
        <p:txBody>
          <a:bodyPr anchor="t" rtlCol="false" tIns="0" lIns="0" bIns="0" rIns="0">
            <a:spAutoFit/>
          </a:bodyPr>
          <a:lstStyle/>
          <a:p>
            <a:pPr algn="l" marL="971647" indent="-485824" lvl="1">
              <a:lnSpc>
                <a:spcPts val="6300"/>
              </a:lnSpc>
              <a:buFont typeface="Arial"/>
              <a:buChar char="•"/>
            </a:pPr>
            <a:r>
              <a:rPr lang="en-US" sz="4500">
                <a:solidFill>
                  <a:srgbClr val="000000"/>
                </a:solidFill>
                <a:latin typeface="Roboto"/>
                <a:ea typeface="Roboto"/>
                <a:cs typeface="Roboto"/>
                <a:sym typeface="Roboto"/>
              </a:rPr>
              <a:t>Yêu cầu thiết lập phức tạp hơn với build_runner.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5641187" y="4548002"/>
            <a:ext cx="7005626" cy="5023327"/>
          </a:xfrm>
          <a:custGeom>
            <a:avLst/>
            <a:gdLst/>
            <a:ahLst/>
            <a:cxnLst/>
            <a:rect r="r" b="b" t="t" l="l"/>
            <a:pathLst>
              <a:path h="5023327" w="7005626">
                <a:moveTo>
                  <a:pt x="0" y="0"/>
                </a:moveTo>
                <a:lnTo>
                  <a:pt x="7005626" y="0"/>
                </a:lnTo>
                <a:lnTo>
                  <a:pt x="7005626" y="5023327"/>
                </a:lnTo>
                <a:lnTo>
                  <a:pt x="0" y="5023327"/>
                </a:lnTo>
                <a:lnTo>
                  <a:pt x="0" y="0"/>
                </a:lnTo>
                <a:close/>
              </a:path>
            </a:pathLst>
          </a:custGeom>
          <a:blipFill>
            <a:blip r:embed="rId3"/>
            <a:stretch>
              <a:fillRect l="0" t="0" r="0" b="0"/>
            </a:stretch>
          </a:blipFill>
        </p:spPr>
      </p:sp>
      <p:sp>
        <p:nvSpPr>
          <p:cNvPr name="TextBox 4" id="4"/>
          <p:cNvSpPr txBox="true"/>
          <p:nvPr/>
        </p:nvSpPr>
        <p:spPr>
          <a:xfrm rot="0">
            <a:off x="500044" y="203202"/>
            <a:ext cx="9126624" cy="1470022"/>
          </a:xfrm>
          <a:prstGeom prst="rect">
            <a:avLst/>
          </a:prstGeom>
        </p:spPr>
        <p:txBody>
          <a:bodyPr anchor="t" rtlCol="false" tIns="0" lIns="0" bIns="0" rIns="0">
            <a:spAutoFit/>
          </a:bodyPr>
          <a:lstStyle/>
          <a:p>
            <a:pPr algn="l">
              <a:lnSpc>
                <a:spcPts val="11900"/>
              </a:lnSpc>
            </a:pPr>
            <a:r>
              <a:rPr lang="en-US" sz="8500" b="true">
                <a:solidFill>
                  <a:srgbClr val="000000"/>
                </a:solidFill>
                <a:latin typeface="Roboto Bold"/>
                <a:ea typeface="Roboto Bold"/>
                <a:cs typeface="Roboto Bold"/>
                <a:sym typeface="Roboto Bold"/>
              </a:rPr>
              <a:t>2. DRIFT (MOOR )</a:t>
            </a:r>
          </a:p>
        </p:txBody>
      </p:sp>
      <p:sp>
        <p:nvSpPr>
          <p:cNvPr name="TextBox 5" id="5"/>
          <p:cNvSpPr txBox="true"/>
          <p:nvPr/>
        </p:nvSpPr>
        <p:spPr>
          <a:xfrm rot="0">
            <a:off x="500044" y="1761032"/>
            <a:ext cx="15024255"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2.2) CẤU HÌNH VÀ THIẾT LẬP DRIFT</a:t>
            </a:r>
          </a:p>
        </p:txBody>
      </p:sp>
      <p:sp>
        <p:nvSpPr>
          <p:cNvPr name="TextBox 6" id="6"/>
          <p:cNvSpPr txBox="true"/>
          <p:nvPr/>
        </p:nvSpPr>
        <p:spPr>
          <a:xfrm rot="0">
            <a:off x="821269" y="3359294"/>
            <a:ext cx="8130098"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B1</a:t>
            </a:r>
            <a:r>
              <a:rPr lang="en-US" sz="4200" b="true">
                <a:solidFill>
                  <a:srgbClr val="000000"/>
                </a:solidFill>
                <a:latin typeface="Roboto Bold"/>
                <a:ea typeface="Roboto Bold"/>
                <a:cs typeface="Roboto Bold"/>
                <a:sym typeface="Roboto Bold"/>
              </a:rPr>
              <a:t>: Trong file pubspec.yaml:</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256388" y="3314691"/>
            <a:ext cx="5215393" cy="896915"/>
          </a:xfrm>
          <a:custGeom>
            <a:avLst/>
            <a:gdLst/>
            <a:ahLst/>
            <a:cxnLst/>
            <a:rect r="r" b="b" t="t" l="l"/>
            <a:pathLst>
              <a:path h="896915" w="5215393">
                <a:moveTo>
                  <a:pt x="0" y="0"/>
                </a:moveTo>
                <a:lnTo>
                  <a:pt x="5215394" y="0"/>
                </a:lnTo>
                <a:lnTo>
                  <a:pt x="5215394" y="896915"/>
                </a:lnTo>
                <a:lnTo>
                  <a:pt x="0" y="896915"/>
                </a:lnTo>
                <a:lnTo>
                  <a:pt x="0" y="0"/>
                </a:lnTo>
                <a:close/>
              </a:path>
            </a:pathLst>
          </a:custGeom>
          <a:blipFill>
            <a:blip r:embed="rId3"/>
            <a:stretch>
              <a:fillRect l="0" t="0" r="0" b="0"/>
            </a:stretch>
          </a:blipFill>
        </p:spPr>
      </p:sp>
      <p:sp>
        <p:nvSpPr>
          <p:cNvPr name="Freeform 4" id="4"/>
          <p:cNvSpPr/>
          <p:nvPr/>
        </p:nvSpPr>
        <p:spPr>
          <a:xfrm flipH="false" flipV="false" rot="0">
            <a:off x="5355987" y="6077894"/>
            <a:ext cx="9537486" cy="942658"/>
          </a:xfrm>
          <a:custGeom>
            <a:avLst/>
            <a:gdLst/>
            <a:ahLst/>
            <a:cxnLst/>
            <a:rect r="r" b="b" t="t" l="l"/>
            <a:pathLst>
              <a:path h="942658" w="9537486">
                <a:moveTo>
                  <a:pt x="0" y="0"/>
                </a:moveTo>
                <a:lnTo>
                  <a:pt x="9537486" y="0"/>
                </a:lnTo>
                <a:lnTo>
                  <a:pt x="9537486" y="942658"/>
                </a:lnTo>
                <a:lnTo>
                  <a:pt x="0" y="942658"/>
                </a:lnTo>
                <a:lnTo>
                  <a:pt x="0" y="0"/>
                </a:lnTo>
                <a:close/>
              </a:path>
            </a:pathLst>
          </a:custGeom>
          <a:blipFill>
            <a:blip r:embed="rId4"/>
            <a:stretch>
              <a:fillRect l="0" t="0" r="0" b="0"/>
            </a:stretch>
          </a:blipFill>
        </p:spPr>
      </p:sp>
      <p:sp>
        <p:nvSpPr>
          <p:cNvPr name="TextBox 5" id="5"/>
          <p:cNvSpPr txBox="true"/>
          <p:nvPr/>
        </p:nvSpPr>
        <p:spPr>
          <a:xfrm rot="0">
            <a:off x="500044" y="203202"/>
            <a:ext cx="9126624" cy="1470022"/>
          </a:xfrm>
          <a:prstGeom prst="rect">
            <a:avLst/>
          </a:prstGeom>
        </p:spPr>
        <p:txBody>
          <a:bodyPr anchor="t" rtlCol="false" tIns="0" lIns="0" bIns="0" rIns="0">
            <a:spAutoFit/>
          </a:bodyPr>
          <a:lstStyle/>
          <a:p>
            <a:pPr algn="l">
              <a:lnSpc>
                <a:spcPts val="11900"/>
              </a:lnSpc>
            </a:pPr>
            <a:r>
              <a:rPr lang="en-US" sz="8500" b="true">
                <a:solidFill>
                  <a:srgbClr val="000000"/>
                </a:solidFill>
                <a:latin typeface="Roboto Bold"/>
                <a:ea typeface="Roboto Bold"/>
                <a:cs typeface="Roboto Bold"/>
                <a:sym typeface="Roboto Bold"/>
              </a:rPr>
              <a:t>2. DRIFT (MOOR )</a:t>
            </a:r>
          </a:p>
        </p:txBody>
      </p:sp>
      <p:sp>
        <p:nvSpPr>
          <p:cNvPr name="TextBox 6" id="6"/>
          <p:cNvSpPr txBox="true"/>
          <p:nvPr/>
        </p:nvSpPr>
        <p:spPr>
          <a:xfrm rot="0">
            <a:off x="500044" y="1761032"/>
            <a:ext cx="15024255"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2.2) CẤU HÌNH VÀ THIẾT LẬP DRIFT</a:t>
            </a:r>
          </a:p>
        </p:txBody>
      </p:sp>
      <p:sp>
        <p:nvSpPr>
          <p:cNvPr name="TextBox 7" id="7"/>
          <p:cNvSpPr txBox="true"/>
          <p:nvPr/>
        </p:nvSpPr>
        <p:spPr>
          <a:xfrm rot="0">
            <a:off x="821269" y="3359294"/>
            <a:ext cx="4798612"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B2</a:t>
            </a:r>
            <a:r>
              <a:rPr lang="en-US" sz="4200" b="true">
                <a:solidFill>
                  <a:srgbClr val="000000"/>
                </a:solidFill>
                <a:latin typeface="Roboto Bold"/>
                <a:ea typeface="Roboto Bold"/>
                <a:cs typeface="Roboto Bold"/>
                <a:sym typeface="Roboto Bold"/>
              </a:rPr>
              <a:t>: Trong terminal:</a:t>
            </a:r>
          </a:p>
        </p:txBody>
      </p:sp>
      <p:sp>
        <p:nvSpPr>
          <p:cNvPr name="TextBox 8" id="8"/>
          <p:cNvSpPr txBox="true"/>
          <p:nvPr/>
        </p:nvSpPr>
        <p:spPr>
          <a:xfrm rot="0">
            <a:off x="821269" y="6145369"/>
            <a:ext cx="3943231" cy="721983"/>
          </a:xfrm>
          <a:prstGeom prst="rect">
            <a:avLst/>
          </a:prstGeom>
        </p:spPr>
        <p:txBody>
          <a:bodyPr anchor="t" rtlCol="false" tIns="0" lIns="0" bIns="0" rIns="0">
            <a:spAutoFit/>
          </a:bodyPr>
          <a:lstStyle/>
          <a:p>
            <a:pPr algn="l">
              <a:lnSpc>
                <a:spcPts val="5880"/>
              </a:lnSpc>
            </a:pPr>
            <a:r>
              <a:rPr lang="en-US" sz="4200" b="true">
                <a:solidFill>
                  <a:srgbClr val="000000"/>
                </a:solidFill>
                <a:latin typeface="Roboto Bold"/>
                <a:ea typeface="Roboto Bold"/>
                <a:cs typeface="Roboto Bold"/>
                <a:sym typeface="Roboto Bold"/>
              </a:rPr>
              <a:t>B3</a:t>
            </a:r>
            <a:r>
              <a:rPr lang="en-US" sz="4200" b="true">
                <a:solidFill>
                  <a:srgbClr val="000000"/>
                </a:solidFill>
                <a:latin typeface="Roboto Bold"/>
                <a:ea typeface="Roboto Bold"/>
                <a:cs typeface="Roboto Bold"/>
                <a:sym typeface="Roboto Bold"/>
              </a:rPr>
              <a:t>: Để dử dụng</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2542232" y="4106670"/>
            <a:ext cx="11863320" cy="4238502"/>
          </a:xfrm>
          <a:custGeom>
            <a:avLst/>
            <a:gdLst/>
            <a:ahLst/>
            <a:cxnLst/>
            <a:rect r="r" b="b" t="t" l="l"/>
            <a:pathLst>
              <a:path h="4238502" w="11863320">
                <a:moveTo>
                  <a:pt x="0" y="0"/>
                </a:moveTo>
                <a:lnTo>
                  <a:pt x="11863320" y="0"/>
                </a:lnTo>
                <a:lnTo>
                  <a:pt x="11863320" y="4238502"/>
                </a:lnTo>
                <a:lnTo>
                  <a:pt x="0" y="4238502"/>
                </a:lnTo>
                <a:lnTo>
                  <a:pt x="0" y="0"/>
                </a:lnTo>
                <a:close/>
              </a:path>
            </a:pathLst>
          </a:custGeom>
          <a:blipFill>
            <a:blip r:embed="rId3"/>
            <a:stretch>
              <a:fillRect l="0" t="0" r="0" b="0"/>
            </a:stretch>
          </a:blipFill>
        </p:spPr>
      </p:sp>
      <p:sp>
        <p:nvSpPr>
          <p:cNvPr name="TextBox 4" id="4"/>
          <p:cNvSpPr txBox="true"/>
          <p:nvPr/>
        </p:nvSpPr>
        <p:spPr>
          <a:xfrm rot="0">
            <a:off x="432514" y="725571"/>
            <a:ext cx="4219436"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2.3) VÍ DỤ</a:t>
            </a:r>
          </a:p>
        </p:txBody>
      </p:sp>
      <p:sp>
        <p:nvSpPr>
          <p:cNvPr name="TextBox 5" id="5"/>
          <p:cNvSpPr txBox="true"/>
          <p:nvPr/>
        </p:nvSpPr>
        <p:spPr>
          <a:xfrm rot="0">
            <a:off x="674954" y="2368495"/>
            <a:ext cx="5772628" cy="1005194"/>
          </a:xfrm>
          <a:prstGeom prst="rect">
            <a:avLst/>
          </a:prstGeom>
        </p:spPr>
        <p:txBody>
          <a:bodyPr anchor="t" rtlCol="false" tIns="0" lIns="0" bIns="0" rIns="0">
            <a:spAutoFit/>
          </a:bodyPr>
          <a:lstStyle/>
          <a:p>
            <a:pPr algn="l">
              <a:lnSpc>
                <a:spcPts val="8120"/>
              </a:lnSpc>
            </a:pPr>
            <a:r>
              <a:rPr lang="en-US" sz="5800" b="true">
                <a:solidFill>
                  <a:srgbClr val="000000"/>
                </a:solidFill>
                <a:latin typeface="Roboto Bold"/>
                <a:ea typeface="Roboto Bold"/>
                <a:cs typeface="Roboto Bold"/>
                <a:sym typeface="Roboto Bold"/>
              </a:rPr>
              <a:t>Định nghĩa bảng:</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726671" y="2955563"/>
            <a:ext cx="10444122" cy="6909434"/>
          </a:xfrm>
          <a:custGeom>
            <a:avLst/>
            <a:gdLst/>
            <a:ahLst/>
            <a:cxnLst/>
            <a:rect r="r" b="b" t="t" l="l"/>
            <a:pathLst>
              <a:path h="6909434" w="10444122">
                <a:moveTo>
                  <a:pt x="0" y="0"/>
                </a:moveTo>
                <a:lnTo>
                  <a:pt x="10444122" y="0"/>
                </a:lnTo>
                <a:lnTo>
                  <a:pt x="10444122" y="6909435"/>
                </a:lnTo>
                <a:lnTo>
                  <a:pt x="0" y="6909435"/>
                </a:lnTo>
                <a:lnTo>
                  <a:pt x="0" y="0"/>
                </a:lnTo>
                <a:close/>
              </a:path>
            </a:pathLst>
          </a:custGeom>
          <a:blipFill>
            <a:blip r:embed="rId3"/>
            <a:stretch>
              <a:fillRect l="0" t="0" r="0" b="0"/>
            </a:stretch>
          </a:blipFill>
        </p:spPr>
      </p:sp>
      <p:sp>
        <p:nvSpPr>
          <p:cNvPr name="TextBox 4" id="4"/>
          <p:cNvSpPr txBox="true"/>
          <p:nvPr/>
        </p:nvSpPr>
        <p:spPr>
          <a:xfrm rot="0">
            <a:off x="342474" y="346080"/>
            <a:ext cx="4219436"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2.3) VÍ DỤ</a:t>
            </a:r>
          </a:p>
        </p:txBody>
      </p:sp>
      <p:sp>
        <p:nvSpPr>
          <p:cNvPr name="TextBox 5" id="5"/>
          <p:cNvSpPr txBox="true"/>
          <p:nvPr/>
        </p:nvSpPr>
        <p:spPr>
          <a:xfrm rot="0">
            <a:off x="342474" y="1693194"/>
            <a:ext cx="4579596" cy="1005194"/>
          </a:xfrm>
          <a:prstGeom prst="rect">
            <a:avLst/>
          </a:prstGeom>
        </p:spPr>
        <p:txBody>
          <a:bodyPr anchor="t" rtlCol="false" tIns="0" lIns="0" bIns="0" rIns="0">
            <a:spAutoFit/>
          </a:bodyPr>
          <a:lstStyle/>
          <a:p>
            <a:pPr algn="l">
              <a:lnSpc>
                <a:spcPts val="8120"/>
              </a:lnSpc>
            </a:pPr>
            <a:r>
              <a:rPr lang="en-US" sz="5800" b="true">
                <a:solidFill>
                  <a:srgbClr val="000000"/>
                </a:solidFill>
                <a:latin typeface="Roboto Bold"/>
                <a:ea typeface="Roboto Bold"/>
                <a:cs typeface="Roboto Bold"/>
                <a:sym typeface="Roboto Bold"/>
              </a:rPr>
              <a:t>Tạo database</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949569" y="1816557"/>
            <a:ext cx="11256580" cy="7797768"/>
          </a:xfrm>
          <a:custGeom>
            <a:avLst/>
            <a:gdLst/>
            <a:ahLst/>
            <a:cxnLst/>
            <a:rect r="r" b="b" t="t" l="l"/>
            <a:pathLst>
              <a:path h="7797768" w="11256580">
                <a:moveTo>
                  <a:pt x="0" y="0"/>
                </a:moveTo>
                <a:lnTo>
                  <a:pt x="11256581" y="0"/>
                </a:lnTo>
                <a:lnTo>
                  <a:pt x="11256581" y="7797768"/>
                </a:lnTo>
                <a:lnTo>
                  <a:pt x="0" y="7797768"/>
                </a:lnTo>
                <a:lnTo>
                  <a:pt x="0" y="0"/>
                </a:lnTo>
                <a:close/>
              </a:path>
            </a:pathLst>
          </a:custGeom>
          <a:blipFill>
            <a:blip r:embed="rId3"/>
            <a:stretch>
              <a:fillRect l="0" t="0" r="0" b="0"/>
            </a:stretch>
          </a:blipFill>
        </p:spPr>
      </p:sp>
      <p:sp>
        <p:nvSpPr>
          <p:cNvPr name="TextBox 4" id="4"/>
          <p:cNvSpPr txBox="true"/>
          <p:nvPr/>
        </p:nvSpPr>
        <p:spPr>
          <a:xfrm rot="0">
            <a:off x="342474" y="346080"/>
            <a:ext cx="4219436"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2.3) VÍ DỤ</a:t>
            </a:r>
          </a:p>
        </p:txBody>
      </p:sp>
      <p:sp>
        <p:nvSpPr>
          <p:cNvPr name="TextBox 5" id="5"/>
          <p:cNvSpPr txBox="true"/>
          <p:nvPr/>
        </p:nvSpPr>
        <p:spPr>
          <a:xfrm rot="0">
            <a:off x="520187" y="1692732"/>
            <a:ext cx="3206484" cy="1005194"/>
          </a:xfrm>
          <a:prstGeom prst="rect">
            <a:avLst/>
          </a:prstGeom>
        </p:spPr>
        <p:txBody>
          <a:bodyPr anchor="t" rtlCol="false" tIns="0" lIns="0" bIns="0" rIns="0">
            <a:spAutoFit/>
          </a:bodyPr>
          <a:lstStyle/>
          <a:p>
            <a:pPr algn="l">
              <a:lnSpc>
                <a:spcPts val="8120"/>
              </a:lnSpc>
            </a:pPr>
            <a:r>
              <a:rPr lang="en-US" sz="5800" b="true">
                <a:solidFill>
                  <a:srgbClr val="000000"/>
                </a:solidFill>
                <a:latin typeface="Roboto Bold"/>
                <a:ea typeface="Roboto Bold"/>
                <a:cs typeface="Roboto Bold"/>
                <a:sym typeface="Roboto Bold"/>
              </a:rPr>
              <a:t>Sử dụng:</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176449" y="2892469"/>
            <a:ext cx="11935102" cy="5130186"/>
          </a:xfrm>
          <a:custGeom>
            <a:avLst/>
            <a:gdLst/>
            <a:ahLst/>
            <a:cxnLst/>
            <a:rect r="r" b="b" t="t" l="l"/>
            <a:pathLst>
              <a:path h="5130186" w="11935102">
                <a:moveTo>
                  <a:pt x="0" y="0"/>
                </a:moveTo>
                <a:lnTo>
                  <a:pt x="11935102" y="0"/>
                </a:lnTo>
                <a:lnTo>
                  <a:pt x="11935102" y="5130186"/>
                </a:lnTo>
                <a:lnTo>
                  <a:pt x="0" y="5130186"/>
                </a:lnTo>
                <a:lnTo>
                  <a:pt x="0" y="0"/>
                </a:lnTo>
                <a:close/>
              </a:path>
            </a:pathLst>
          </a:custGeom>
          <a:blipFill>
            <a:blip r:embed="rId3"/>
            <a:stretch>
              <a:fillRect l="0" t="0" r="0" b="0"/>
            </a:stretch>
          </a:blipFill>
        </p:spPr>
      </p:sp>
      <p:sp>
        <p:nvSpPr>
          <p:cNvPr name="TextBox 4" id="4"/>
          <p:cNvSpPr txBox="true"/>
          <p:nvPr/>
        </p:nvSpPr>
        <p:spPr>
          <a:xfrm rot="0">
            <a:off x="342474" y="346080"/>
            <a:ext cx="12133012"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2.4) MIGRATION SANG DRIFT</a:t>
            </a:r>
          </a:p>
        </p:txBody>
      </p:sp>
      <p:sp>
        <p:nvSpPr>
          <p:cNvPr name="TextBox 5" id="5"/>
          <p:cNvSpPr txBox="true"/>
          <p:nvPr/>
        </p:nvSpPr>
        <p:spPr>
          <a:xfrm rot="0">
            <a:off x="342474" y="1886617"/>
            <a:ext cx="14203935" cy="804534"/>
          </a:xfrm>
          <a:prstGeom prst="rect">
            <a:avLst/>
          </a:prstGeom>
        </p:spPr>
        <p:txBody>
          <a:bodyPr anchor="t" rtlCol="false" tIns="0" lIns="0" bIns="0" rIns="0">
            <a:spAutoFit/>
          </a:bodyPr>
          <a:lstStyle/>
          <a:p>
            <a:pPr algn="l">
              <a:lnSpc>
                <a:spcPts val="6580"/>
              </a:lnSpc>
            </a:pPr>
            <a:r>
              <a:rPr lang="en-US" sz="4700" b="true">
                <a:solidFill>
                  <a:srgbClr val="000000"/>
                </a:solidFill>
                <a:latin typeface="Roboto Bold"/>
                <a:ea typeface="Roboto Bold"/>
                <a:cs typeface="Roboto Bold"/>
                <a:sym typeface="Roboto Bold"/>
              </a:rPr>
              <a:t>B1: Tạo file Database Drift và định nghĩa lại các bảng</a:t>
            </a:r>
          </a:p>
        </p:txBody>
      </p:sp>
      <p:sp>
        <p:nvSpPr>
          <p:cNvPr name="TextBox 6" id="6"/>
          <p:cNvSpPr txBox="true"/>
          <p:nvPr/>
        </p:nvSpPr>
        <p:spPr>
          <a:xfrm rot="0">
            <a:off x="623650" y="8574270"/>
            <a:ext cx="1751848" cy="804534"/>
          </a:xfrm>
          <a:prstGeom prst="rect">
            <a:avLst/>
          </a:prstGeom>
        </p:spPr>
        <p:txBody>
          <a:bodyPr anchor="t" rtlCol="false" tIns="0" lIns="0" bIns="0" rIns="0">
            <a:spAutoFit/>
          </a:bodyPr>
          <a:lstStyle/>
          <a:p>
            <a:pPr algn="l">
              <a:lnSpc>
                <a:spcPts val="6580"/>
              </a:lnSpc>
            </a:pPr>
            <a:r>
              <a:rPr lang="en-US" sz="4700" b="true">
                <a:solidFill>
                  <a:srgbClr val="000000"/>
                </a:solidFill>
                <a:latin typeface="Roboto Bold"/>
                <a:ea typeface="Roboto Bold"/>
                <a:cs typeface="Roboto Bold"/>
                <a:sym typeface="Roboto Bold"/>
              </a:rPr>
              <a:t>Lưu ý:</a:t>
            </a:r>
          </a:p>
        </p:txBody>
      </p:sp>
      <p:sp>
        <p:nvSpPr>
          <p:cNvPr name="Freeform 7" id="7"/>
          <p:cNvSpPr/>
          <p:nvPr/>
        </p:nvSpPr>
        <p:spPr>
          <a:xfrm flipH="false" flipV="false" rot="0">
            <a:off x="2652135" y="8669520"/>
            <a:ext cx="8305408" cy="963323"/>
          </a:xfrm>
          <a:custGeom>
            <a:avLst/>
            <a:gdLst/>
            <a:ahLst/>
            <a:cxnLst/>
            <a:rect r="r" b="b" t="t" l="l"/>
            <a:pathLst>
              <a:path h="963323" w="8305408">
                <a:moveTo>
                  <a:pt x="0" y="0"/>
                </a:moveTo>
                <a:lnTo>
                  <a:pt x="8305409" y="0"/>
                </a:lnTo>
                <a:lnTo>
                  <a:pt x="8305409" y="963324"/>
                </a:lnTo>
                <a:lnTo>
                  <a:pt x="0" y="963324"/>
                </a:lnTo>
                <a:lnTo>
                  <a:pt x="0" y="0"/>
                </a:lnTo>
                <a:close/>
              </a:path>
            </a:pathLst>
          </a:custGeom>
          <a:blipFill>
            <a:blip r:embed="rId4"/>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349362" y="3110250"/>
            <a:ext cx="14564544" cy="6572251"/>
          </a:xfrm>
          <a:custGeom>
            <a:avLst/>
            <a:gdLst/>
            <a:ahLst/>
            <a:cxnLst/>
            <a:rect r="r" b="b" t="t" l="l"/>
            <a:pathLst>
              <a:path h="6572251" w="14564544">
                <a:moveTo>
                  <a:pt x="0" y="0"/>
                </a:moveTo>
                <a:lnTo>
                  <a:pt x="14564544" y="0"/>
                </a:lnTo>
                <a:lnTo>
                  <a:pt x="14564544" y="6572251"/>
                </a:lnTo>
                <a:lnTo>
                  <a:pt x="0" y="6572251"/>
                </a:lnTo>
                <a:lnTo>
                  <a:pt x="0" y="0"/>
                </a:lnTo>
                <a:close/>
              </a:path>
            </a:pathLst>
          </a:custGeom>
          <a:blipFill>
            <a:blip r:embed="rId3"/>
            <a:stretch>
              <a:fillRect l="0" t="0" r="0" b="0"/>
            </a:stretch>
          </a:blipFill>
        </p:spPr>
      </p:sp>
      <p:sp>
        <p:nvSpPr>
          <p:cNvPr name="TextBox 4" id="4"/>
          <p:cNvSpPr txBox="true"/>
          <p:nvPr/>
        </p:nvSpPr>
        <p:spPr>
          <a:xfrm rot="0">
            <a:off x="342474" y="346080"/>
            <a:ext cx="12133012"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2.4) MIGRATION SANG DRIFT</a:t>
            </a:r>
          </a:p>
        </p:txBody>
      </p:sp>
      <p:sp>
        <p:nvSpPr>
          <p:cNvPr name="TextBox 5" id="5"/>
          <p:cNvSpPr txBox="true"/>
          <p:nvPr/>
        </p:nvSpPr>
        <p:spPr>
          <a:xfrm rot="0">
            <a:off x="342474" y="1886617"/>
            <a:ext cx="14203935" cy="804534"/>
          </a:xfrm>
          <a:prstGeom prst="rect">
            <a:avLst/>
          </a:prstGeom>
        </p:spPr>
        <p:txBody>
          <a:bodyPr anchor="t" rtlCol="false" tIns="0" lIns="0" bIns="0" rIns="0">
            <a:spAutoFit/>
          </a:bodyPr>
          <a:lstStyle/>
          <a:p>
            <a:pPr algn="l">
              <a:lnSpc>
                <a:spcPts val="6580"/>
              </a:lnSpc>
            </a:pPr>
            <a:r>
              <a:rPr lang="en-US" sz="4700" b="true">
                <a:solidFill>
                  <a:srgbClr val="000000"/>
                </a:solidFill>
                <a:latin typeface="Roboto Bold"/>
                <a:ea typeface="Roboto Bold"/>
                <a:cs typeface="Roboto Bold"/>
                <a:sym typeface="Roboto Bold"/>
              </a:rPr>
              <a:t>B1: Tạo file Database Drift và định nghĩa lại các bảng</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555276" y="2348329"/>
            <a:ext cx="11177448" cy="7810242"/>
          </a:xfrm>
          <a:custGeom>
            <a:avLst/>
            <a:gdLst/>
            <a:ahLst/>
            <a:cxnLst/>
            <a:rect r="r" b="b" t="t" l="l"/>
            <a:pathLst>
              <a:path h="7810242" w="11177448">
                <a:moveTo>
                  <a:pt x="0" y="0"/>
                </a:moveTo>
                <a:lnTo>
                  <a:pt x="11177448" y="0"/>
                </a:lnTo>
                <a:lnTo>
                  <a:pt x="11177448" y="7810242"/>
                </a:lnTo>
                <a:lnTo>
                  <a:pt x="0" y="7810242"/>
                </a:lnTo>
                <a:lnTo>
                  <a:pt x="0" y="0"/>
                </a:lnTo>
                <a:close/>
              </a:path>
            </a:pathLst>
          </a:custGeom>
          <a:blipFill>
            <a:blip r:embed="rId3"/>
            <a:stretch>
              <a:fillRect l="0" t="0" r="0" b="0"/>
            </a:stretch>
          </a:blipFill>
        </p:spPr>
      </p:sp>
      <p:sp>
        <p:nvSpPr>
          <p:cNvPr name="TextBox 4" id="4"/>
          <p:cNvSpPr txBox="true"/>
          <p:nvPr/>
        </p:nvSpPr>
        <p:spPr>
          <a:xfrm rot="0">
            <a:off x="342474" y="120980"/>
            <a:ext cx="12133012"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2.4) MIGRATION SANG DRIFT</a:t>
            </a:r>
          </a:p>
        </p:txBody>
      </p:sp>
      <p:sp>
        <p:nvSpPr>
          <p:cNvPr name="TextBox 5" id="5"/>
          <p:cNvSpPr txBox="true"/>
          <p:nvPr/>
        </p:nvSpPr>
        <p:spPr>
          <a:xfrm rot="0">
            <a:off x="342474" y="1391396"/>
            <a:ext cx="17085221" cy="804534"/>
          </a:xfrm>
          <a:prstGeom prst="rect">
            <a:avLst/>
          </a:prstGeom>
        </p:spPr>
        <p:txBody>
          <a:bodyPr anchor="t" rtlCol="false" tIns="0" lIns="0" bIns="0" rIns="0">
            <a:spAutoFit/>
          </a:bodyPr>
          <a:lstStyle/>
          <a:p>
            <a:pPr algn="l">
              <a:lnSpc>
                <a:spcPts val="6580"/>
              </a:lnSpc>
            </a:pPr>
            <a:r>
              <a:rPr lang="en-US" sz="4700" b="true">
                <a:solidFill>
                  <a:srgbClr val="000000"/>
                </a:solidFill>
                <a:latin typeface="Roboto Bold"/>
                <a:ea typeface="Roboto Bold"/>
                <a:cs typeface="Roboto Bold"/>
                <a:sym typeface="Roboto Bold"/>
              </a:rPr>
              <a:t>B2</a:t>
            </a:r>
            <a:r>
              <a:rPr lang="en-US" sz="4700" b="true">
                <a:solidFill>
                  <a:srgbClr val="000000"/>
                </a:solidFill>
                <a:latin typeface="Roboto Bold"/>
                <a:ea typeface="Roboto Bold"/>
                <a:cs typeface="Roboto Bold"/>
                <a:sym typeface="Roboto Bold"/>
              </a:rPr>
              <a:t>: Tạo Database và viết hàm CRUD tương tự nhưng dùng Drift.</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2857137" y="2877925"/>
            <a:ext cx="12837238" cy="6154591"/>
          </a:xfrm>
          <a:custGeom>
            <a:avLst/>
            <a:gdLst/>
            <a:ahLst/>
            <a:cxnLst/>
            <a:rect r="r" b="b" t="t" l="l"/>
            <a:pathLst>
              <a:path h="6154591" w="12837238">
                <a:moveTo>
                  <a:pt x="0" y="0"/>
                </a:moveTo>
                <a:lnTo>
                  <a:pt x="12837238" y="0"/>
                </a:lnTo>
                <a:lnTo>
                  <a:pt x="12837238" y="6154591"/>
                </a:lnTo>
                <a:lnTo>
                  <a:pt x="0" y="6154591"/>
                </a:lnTo>
                <a:lnTo>
                  <a:pt x="0" y="0"/>
                </a:lnTo>
                <a:close/>
              </a:path>
            </a:pathLst>
          </a:custGeom>
          <a:blipFill>
            <a:blip r:embed="rId3"/>
            <a:stretch>
              <a:fillRect l="0" t="0" r="0" b="0"/>
            </a:stretch>
          </a:blipFill>
        </p:spPr>
      </p:sp>
      <p:sp>
        <p:nvSpPr>
          <p:cNvPr name="TextBox 4" id="4"/>
          <p:cNvSpPr txBox="true"/>
          <p:nvPr/>
        </p:nvSpPr>
        <p:spPr>
          <a:xfrm rot="0">
            <a:off x="342474" y="120980"/>
            <a:ext cx="12133012"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2.4) MIGRATION SANG DRIFT</a:t>
            </a:r>
          </a:p>
        </p:txBody>
      </p:sp>
      <p:sp>
        <p:nvSpPr>
          <p:cNvPr name="TextBox 5" id="5"/>
          <p:cNvSpPr txBox="true"/>
          <p:nvPr/>
        </p:nvSpPr>
        <p:spPr>
          <a:xfrm rot="0">
            <a:off x="342474" y="1571476"/>
            <a:ext cx="9949538" cy="804534"/>
          </a:xfrm>
          <a:prstGeom prst="rect">
            <a:avLst/>
          </a:prstGeom>
        </p:spPr>
        <p:txBody>
          <a:bodyPr anchor="t" rtlCol="false" tIns="0" lIns="0" bIns="0" rIns="0">
            <a:spAutoFit/>
          </a:bodyPr>
          <a:lstStyle/>
          <a:p>
            <a:pPr algn="l">
              <a:lnSpc>
                <a:spcPts val="6580"/>
              </a:lnSpc>
            </a:pPr>
            <a:r>
              <a:rPr lang="en-US" sz="4700" b="true">
                <a:solidFill>
                  <a:srgbClr val="000000"/>
                </a:solidFill>
                <a:latin typeface="Roboto Bold"/>
                <a:ea typeface="Roboto Bold"/>
                <a:cs typeface="Roboto Bold"/>
                <a:sym typeface="Roboto Bold"/>
              </a:rPr>
              <a:t>B3</a:t>
            </a:r>
            <a:r>
              <a:rPr lang="en-US" sz="4700" b="true">
                <a:solidFill>
                  <a:srgbClr val="000000"/>
                </a:solidFill>
                <a:latin typeface="Roboto Bold"/>
                <a:ea typeface="Roboto Bold"/>
                <a:cs typeface="Roboto Bold"/>
                <a:sym typeface="Roboto Bold"/>
              </a:rPr>
              <a:t>: Thêm Database mới vào trong UI</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4738118" y="2506258"/>
            <a:ext cx="9063272" cy="7319842"/>
          </a:xfrm>
          <a:custGeom>
            <a:avLst/>
            <a:gdLst/>
            <a:ahLst/>
            <a:cxnLst/>
            <a:rect r="r" b="b" t="t" l="l"/>
            <a:pathLst>
              <a:path h="7319842" w="9063272">
                <a:moveTo>
                  <a:pt x="0" y="0"/>
                </a:moveTo>
                <a:lnTo>
                  <a:pt x="9063271" y="0"/>
                </a:lnTo>
                <a:lnTo>
                  <a:pt x="9063271" y="7319842"/>
                </a:lnTo>
                <a:lnTo>
                  <a:pt x="0" y="7319842"/>
                </a:lnTo>
                <a:lnTo>
                  <a:pt x="0" y="0"/>
                </a:lnTo>
                <a:close/>
              </a:path>
            </a:pathLst>
          </a:custGeom>
          <a:blipFill>
            <a:blip r:embed="rId3"/>
            <a:stretch>
              <a:fillRect l="0" t="0" r="0" b="0"/>
            </a:stretch>
          </a:blipFill>
        </p:spPr>
      </p:sp>
      <p:sp>
        <p:nvSpPr>
          <p:cNvPr name="TextBox 4" id="4"/>
          <p:cNvSpPr txBox="true"/>
          <p:nvPr/>
        </p:nvSpPr>
        <p:spPr>
          <a:xfrm rot="0">
            <a:off x="342474" y="120980"/>
            <a:ext cx="12133012"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2.4) MIGRATION SANG DRIFT</a:t>
            </a:r>
          </a:p>
        </p:txBody>
      </p:sp>
      <p:sp>
        <p:nvSpPr>
          <p:cNvPr name="TextBox 5" id="5"/>
          <p:cNvSpPr txBox="true"/>
          <p:nvPr/>
        </p:nvSpPr>
        <p:spPr>
          <a:xfrm rot="0">
            <a:off x="342474" y="1571476"/>
            <a:ext cx="9949538" cy="804534"/>
          </a:xfrm>
          <a:prstGeom prst="rect">
            <a:avLst/>
          </a:prstGeom>
        </p:spPr>
        <p:txBody>
          <a:bodyPr anchor="t" rtlCol="false" tIns="0" lIns="0" bIns="0" rIns="0">
            <a:spAutoFit/>
          </a:bodyPr>
          <a:lstStyle/>
          <a:p>
            <a:pPr algn="l">
              <a:lnSpc>
                <a:spcPts val="6580"/>
              </a:lnSpc>
            </a:pPr>
            <a:r>
              <a:rPr lang="en-US" sz="4700" b="true">
                <a:solidFill>
                  <a:srgbClr val="000000"/>
                </a:solidFill>
                <a:latin typeface="Roboto Bold"/>
                <a:ea typeface="Roboto Bold"/>
                <a:cs typeface="Roboto Bold"/>
                <a:sym typeface="Roboto Bold"/>
              </a:rPr>
              <a:t>B3</a:t>
            </a:r>
            <a:r>
              <a:rPr lang="en-US" sz="4700" b="true">
                <a:solidFill>
                  <a:srgbClr val="000000"/>
                </a:solidFill>
                <a:latin typeface="Roboto Bold"/>
                <a:ea typeface="Roboto Bold"/>
                <a:cs typeface="Roboto Bold"/>
                <a:sym typeface="Roboto Bold"/>
              </a:rPr>
              <a:t>: Thêm database mới vào trong UI</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8584642" y="1418687"/>
            <a:ext cx="3890844" cy="6117679"/>
          </a:xfrm>
          <a:custGeom>
            <a:avLst/>
            <a:gdLst/>
            <a:ahLst/>
            <a:cxnLst/>
            <a:rect r="r" b="b" t="t" l="l"/>
            <a:pathLst>
              <a:path h="6117679" w="3890844">
                <a:moveTo>
                  <a:pt x="0" y="0"/>
                </a:moveTo>
                <a:lnTo>
                  <a:pt x="3890844" y="0"/>
                </a:lnTo>
                <a:lnTo>
                  <a:pt x="3890844" y="6117679"/>
                </a:lnTo>
                <a:lnTo>
                  <a:pt x="0" y="6117679"/>
                </a:lnTo>
                <a:lnTo>
                  <a:pt x="0" y="0"/>
                </a:lnTo>
                <a:close/>
              </a:path>
            </a:pathLst>
          </a:custGeom>
          <a:blipFill>
            <a:blip r:embed="rId3"/>
            <a:stretch>
              <a:fillRect l="0" t="0" r="0" b="0"/>
            </a:stretch>
          </a:blipFill>
        </p:spPr>
      </p:sp>
      <p:sp>
        <p:nvSpPr>
          <p:cNvPr name="Freeform 4" id="4"/>
          <p:cNvSpPr/>
          <p:nvPr/>
        </p:nvSpPr>
        <p:spPr>
          <a:xfrm flipH="false" flipV="false" rot="0">
            <a:off x="3400969" y="1418687"/>
            <a:ext cx="4735998" cy="8670019"/>
          </a:xfrm>
          <a:custGeom>
            <a:avLst/>
            <a:gdLst/>
            <a:ahLst/>
            <a:cxnLst/>
            <a:rect r="r" b="b" t="t" l="l"/>
            <a:pathLst>
              <a:path h="8670019" w="4735998">
                <a:moveTo>
                  <a:pt x="0" y="0"/>
                </a:moveTo>
                <a:lnTo>
                  <a:pt x="4735998" y="0"/>
                </a:lnTo>
                <a:lnTo>
                  <a:pt x="4735998" y="8670019"/>
                </a:lnTo>
                <a:lnTo>
                  <a:pt x="0" y="8670019"/>
                </a:lnTo>
                <a:lnTo>
                  <a:pt x="0" y="0"/>
                </a:lnTo>
                <a:close/>
              </a:path>
            </a:pathLst>
          </a:custGeom>
          <a:blipFill>
            <a:blip r:embed="rId4"/>
            <a:stretch>
              <a:fillRect l="0" t="0" r="0" b="0"/>
            </a:stretch>
          </a:blipFill>
        </p:spPr>
      </p:sp>
      <p:sp>
        <p:nvSpPr>
          <p:cNvPr name="Freeform 5" id="5"/>
          <p:cNvSpPr/>
          <p:nvPr/>
        </p:nvSpPr>
        <p:spPr>
          <a:xfrm flipH="false" flipV="false" rot="0">
            <a:off x="12923161" y="5886313"/>
            <a:ext cx="4783033" cy="3371987"/>
          </a:xfrm>
          <a:custGeom>
            <a:avLst/>
            <a:gdLst/>
            <a:ahLst/>
            <a:cxnLst/>
            <a:rect r="r" b="b" t="t" l="l"/>
            <a:pathLst>
              <a:path h="3371987" w="4783033">
                <a:moveTo>
                  <a:pt x="0" y="0"/>
                </a:moveTo>
                <a:lnTo>
                  <a:pt x="4783033" y="0"/>
                </a:lnTo>
                <a:lnTo>
                  <a:pt x="4783033" y="3371987"/>
                </a:lnTo>
                <a:lnTo>
                  <a:pt x="0" y="3371987"/>
                </a:lnTo>
                <a:lnTo>
                  <a:pt x="0" y="0"/>
                </a:lnTo>
                <a:close/>
              </a:path>
            </a:pathLst>
          </a:custGeom>
          <a:blipFill>
            <a:blip r:embed="rId5"/>
            <a:stretch>
              <a:fillRect l="0" t="0" r="0" b="0"/>
            </a:stretch>
          </a:blipFill>
        </p:spPr>
      </p:sp>
      <p:sp>
        <p:nvSpPr>
          <p:cNvPr name="Freeform 6" id="6"/>
          <p:cNvSpPr/>
          <p:nvPr/>
        </p:nvSpPr>
        <p:spPr>
          <a:xfrm flipH="false" flipV="false" rot="0">
            <a:off x="13145274" y="1418687"/>
            <a:ext cx="4114026" cy="4126307"/>
          </a:xfrm>
          <a:custGeom>
            <a:avLst/>
            <a:gdLst/>
            <a:ahLst/>
            <a:cxnLst/>
            <a:rect r="r" b="b" t="t" l="l"/>
            <a:pathLst>
              <a:path h="4126307" w="4114026">
                <a:moveTo>
                  <a:pt x="0" y="0"/>
                </a:moveTo>
                <a:lnTo>
                  <a:pt x="4114026" y="0"/>
                </a:lnTo>
                <a:lnTo>
                  <a:pt x="4114026" y="4126307"/>
                </a:lnTo>
                <a:lnTo>
                  <a:pt x="0" y="4126307"/>
                </a:lnTo>
                <a:lnTo>
                  <a:pt x="0" y="0"/>
                </a:lnTo>
                <a:close/>
              </a:path>
            </a:pathLst>
          </a:custGeom>
          <a:blipFill>
            <a:blip r:embed="rId6"/>
            <a:stretch>
              <a:fillRect l="0" t="0" r="0" b="0"/>
            </a:stretch>
          </a:blipFill>
        </p:spPr>
      </p:sp>
      <p:sp>
        <p:nvSpPr>
          <p:cNvPr name="TextBox 7" id="7"/>
          <p:cNvSpPr txBox="true"/>
          <p:nvPr/>
        </p:nvSpPr>
        <p:spPr>
          <a:xfrm rot="0">
            <a:off x="342474" y="120980"/>
            <a:ext cx="12133012" cy="121284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2.4) MIGRATION SANG DRIFT</a:t>
            </a:r>
          </a:p>
        </p:txBody>
      </p:sp>
      <p:sp>
        <p:nvSpPr>
          <p:cNvPr name="TextBox 8" id="8"/>
          <p:cNvSpPr txBox="true"/>
          <p:nvPr/>
        </p:nvSpPr>
        <p:spPr>
          <a:xfrm rot="0">
            <a:off x="342474" y="1304387"/>
            <a:ext cx="2609515" cy="913119"/>
          </a:xfrm>
          <a:prstGeom prst="rect">
            <a:avLst/>
          </a:prstGeom>
        </p:spPr>
        <p:txBody>
          <a:bodyPr anchor="t" rtlCol="false" tIns="0" lIns="0" bIns="0" rIns="0">
            <a:spAutoFit/>
          </a:bodyPr>
          <a:lstStyle/>
          <a:p>
            <a:pPr algn="l">
              <a:lnSpc>
                <a:spcPts val="7420"/>
              </a:lnSpc>
            </a:pPr>
            <a:r>
              <a:rPr lang="en-US" sz="5300" b="true">
                <a:solidFill>
                  <a:srgbClr val="000000"/>
                </a:solidFill>
                <a:latin typeface="Roboto Bold"/>
                <a:ea typeface="Roboto Bold"/>
                <a:cs typeface="Roboto Bold"/>
                <a:sym typeface="Roboto Bold"/>
              </a:rPr>
              <a:t>Kết quả:</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635104" y="190500"/>
            <a:ext cx="16624196" cy="245109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SO SÁNH ƯU VÀ NHƯỢC ĐIỂM MIGRATE SANG DRIFT</a:t>
            </a:r>
          </a:p>
        </p:txBody>
      </p:sp>
      <p:sp>
        <p:nvSpPr>
          <p:cNvPr name="TextBox 4" id="4"/>
          <p:cNvSpPr txBox="true"/>
          <p:nvPr/>
        </p:nvSpPr>
        <p:spPr>
          <a:xfrm rot="0">
            <a:off x="297454" y="4036153"/>
            <a:ext cx="14721666" cy="4910184"/>
          </a:xfrm>
          <a:prstGeom prst="rect">
            <a:avLst/>
          </a:prstGeom>
        </p:spPr>
        <p:txBody>
          <a:bodyPr anchor="t" rtlCol="false" tIns="0" lIns="0" bIns="0" rIns="0">
            <a:spAutoFit/>
          </a:bodyPr>
          <a:lstStyle/>
          <a:p>
            <a:pPr algn="l" marL="1122773" indent="-561387" lvl="1">
              <a:lnSpc>
                <a:spcPts val="7852"/>
              </a:lnSpc>
              <a:buFont typeface="Arial"/>
              <a:buChar char="•"/>
            </a:pPr>
            <a:r>
              <a:rPr lang="en-US" sz="5200">
                <a:solidFill>
                  <a:srgbClr val="000000"/>
                </a:solidFill>
                <a:latin typeface="Roboto"/>
                <a:ea typeface="Roboto"/>
                <a:cs typeface="Roboto"/>
                <a:sym typeface="Roboto"/>
              </a:rPr>
              <a:t>Code sạch, dễ bảo trì hơn</a:t>
            </a:r>
          </a:p>
          <a:p>
            <a:pPr algn="l" marL="1122773" indent="-561387" lvl="1">
              <a:lnSpc>
                <a:spcPts val="7852"/>
              </a:lnSpc>
              <a:buFont typeface="Arial"/>
              <a:buChar char="•"/>
            </a:pPr>
            <a:r>
              <a:rPr lang="en-US" sz="5200">
                <a:solidFill>
                  <a:srgbClr val="000000"/>
                </a:solidFill>
                <a:latin typeface="Roboto"/>
                <a:ea typeface="Roboto"/>
                <a:cs typeface="Roboto"/>
                <a:sym typeface="Roboto"/>
              </a:rPr>
              <a:t>Tích hợp type-safety ( an toàn dữ liệu)</a:t>
            </a:r>
          </a:p>
          <a:p>
            <a:pPr algn="l" marL="1122773" indent="-561387" lvl="1">
              <a:lnSpc>
                <a:spcPts val="7852"/>
              </a:lnSpc>
              <a:buFont typeface="Arial"/>
              <a:buChar char="•"/>
            </a:pPr>
            <a:r>
              <a:rPr lang="en-US" sz="5200">
                <a:solidFill>
                  <a:srgbClr val="000000"/>
                </a:solidFill>
                <a:latin typeface="Roboto"/>
                <a:ea typeface="Roboto"/>
                <a:cs typeface="Roboto"/>
                <a:sym typeface="Roboto"/>
              </a:rPr>
              <a:t>Hỗ trợ reactive ( dữ liệu tự động cập nhật UI)</a:t>
            </a:r>
          </a:p>
          <a:p>
            <a:pPr algn="l" marL="1122773" indent="-561387" lvl="1">
              <a:lnSpc>
                <a:spcPts val="7852"/>
              </a:lnSpc>
              <a:buFont typeface="Arial"/>
              <a:buChar char="•"/>
            </a:pPr>
            <a:r>
              <a:rPr lang="en-US" sz="5200">
                <a:solidFill>
                  <a:srgbClr val="000000"/>
                </a:solidFill>
                <a:latin typeface="Roboto"/>
                <a:ea typeface="Roboto"/>
                <a:cs typeface="Roboto"/>
                <a:sym typeface="Roboto"/>
              </a:rPr>
              <a:t>Giảm lỗi runtime &amp; tăng tốc độ phát triển.</a:t>
            </a:r>
          </a:p>
          <a:p>
            <a:pPr algn="l" marL="1122773" indent="-561387" lvl="1">
              <a:lnSpc>
                <a:spcPts val="7852"/>
              </a:lnSpc>
              <a:buFont typeface="Arial"/>
              <a:buChar char="•"/>
            </a:pPr>
            <a:r>
              <a:rPr lang="en-US" sz="5200">
                <a:solidFill>
                  <a:srgbClr val="000000"/>
                </a:solidFill>
                <a:latin typeface="Roboto"/>
                <a:ea typeface="Roboto"/>
                <a:cs typeface="Roboto"/>
                <a:sym typeface="Roboto"/>
              </a:rPr>
              <a:t>Tích hợp Flutter tốt hơn.</a:t>
            </a:r>
          </a:p>
        </p:txBody>
      </p:sp>
      <p:sp>
        <p:nvSpPr>
          <p:cNvPr name="TextBox 5" id="5"/>
          <p:cNvSpPr txBox="true"/>
          <p:nvPr/>
        </p:nvSpPr>
        <p:spPr>
          <a:xfrm rot="0">
            <a:off x="826110" y="2960417"/>
            <a:ext cx="2836366" cy="896609"/>
          </a:xfrm>
          <a:prstGeom prst="rect">
            <a:avLst/>
          </a:prstGeom>
        </p:spPr>
        <p:txBody>
          <a:bodyPr anchor="t" rtlCol="false" tIns="0" lIns="0" bIns="0" rIns="0">
            <a:spAutoFit/>
          </a:bodyPr>
          <a:lstStyle/>
          <a:p>
            <a:pPr algn="l">
              <a:lnSpc>
                <a:spcPts val="7280"/>
              </a:lnSpc>
            </a:pPr>
            <a:r>
              <a:rPr lang="en-US" sz="5200" b="true">
                <a:solidFill>
                  <a:srgbClr val="000000"/>
                </a:solidFill>
                <a:latin typeface="Roboto Bold"/>
                <a:ea typeface="Roboto Bold"/>
                <a:cs typeface="Roboto Bold"/>
                <a:sym typeface="Roboto Bold"/>
              </a:rPr>
              <a:t>Ưu điểm:</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635104" y="190500"/>
            <a:ext cx="16624196" cy="2451090"/>
          </a:xfrm>
          <a:prstGeom prst="rect">
            <a:avLst/>
          </a:prstGeom>
        </p:spPr>
        <p:txBody>
          <a:bodyPr anchor="t" rtlCol="false" tIns="0" lIns="0" bIns="0" rIns="0">
            <a:spAutoFit/>
          </a:bodyPr>
          <a:lstStyle/>
          <a:p>
            <a:pPr algn="l">
              <a:lnSpc>
                <a:spcPts val="9800"/>
              </a:lnSpc>
            </a:pPr>
            <a:r>
              <a:rPr lang="en-US" sz="7000" b="true">
                <a:solidFill>
                  <a:srgbClr val="000000"/>
                </a:solidFill>
                <a:latin typeface="Roboto Bold"/>
                <a:ea typeface="Roboto Bold"/>
                <a:cs typeface="Roboto Bold"/>
                <a:sym typeface="Roboto Bold"/>
              </a:rPr>
              <a:t>SO SÁNH ƯU VÀ NHƯỢC ĐIỂM MIGRATE SANG DRIFT</a:t>
            </a:r>
          </a:p>
        </p:txBody>
      </p:sp>
      <p:sp>
        <p:nvSpPr>
          <p:cNvPr name="TextBox 4" id="4"/>
          <p:cNvSpPr txBox="true"/>
          <p:nvPr/>
        </p:nvSpPr>
        <p:spPr>
          <a:xfrm rot="0">
            <a:off x="297454" y="4036153"/>
            <a:ext cx="14721666" cy="4910184"/>
          </a:xfrm>
          <a:prstGeom prst="rect">
            <a:avLst/>
          </a:prstGeom>
        </p:spPr>
        <p:txBody>
          <a:bodyPr anchor="t" rtlCol="false" tIns="0" lIns="0" bIns="0" rIns="0">
            <a:spAutoFit/>
          </a:bodyPr>
          <a:lstStyle/>
          <a:p>
            <a:pPr algn="l" marL="1122773" indent="-561387" lvl="1">
              <a:lnSpc>
                <a:spcPts val="7852"/>
              </a:lnSpc>
              <a:buFont typeface="Arial"/>
              <a:buChar char="•"/>
            </a:pPr>
            <a:r>
              <a:rPr lang="en-US" sz="5200">
                <a:solidFill>
                  <a:srgbClr val="000000"/>
                </a:solidFill>
                <a:latin typeface="Roboto"/>
                <a:ea typeface="Roboto"/>
                <a:cs typeface="Roboto"/>
                <a:sym typeface="Roboto"/>
              </a:rPr>
              <a:t>Phức tạp khi migration ban đầu.</a:t>
            </a:r>
          </a:p>
          <a:p>
            <a:pPr algn="l" marL="1122773" indent="-561387" lvl="1">
              <a:lnSpc>
                <a:spcPts val="7852"/>
              </a:lnSpc>
              <a:buFont typeface="Arial"/>
              <a:buChar char="•"/>
            </a:pPr>
            <a:r>
              <a:rPr lang="en-US" sz="5200">
                <a:solidFill>
                  <a:srgbClr val="000000"/>
                </a:solidFill>
                <a:latin typeface="Roboto"/>
                <a:ea typeface="Roboto"/>
                <a:cs typeface="Roboto"/>
                <a:sym typeface="Roboto"/>
              </a:rPr>
              <a:t>Sinh thêm file code (build_runner)</a:t>
            </a:r>
          </a:p>
          <a:p>
            <a:pPr algn="l" marL="1122773" indent="-561387" lvl="1">
              <a:lnSpc>
                <a:spcPts val="7852"/>
              </a:lnSpc>
              <a:buFont typeface="Arial"/>
              <a:buChar char="•"/>
            </a:pPr>
            <a:r>
              <a:rPr lang="en-US" sz="5200">
                <a:solidFill>
                  <a:srgbClr val="000000"/>
                </a:solidFill>
                <a:latin typeface="Roboto"/>
                <a:ea typeface="Roboto"/>
                <a:cs typeface="Roboto"/>
                <a:sym typeface="Roboto"/>
              </a:rPr>
              <a:t>Tăng thời gian build</a:t>
            </a:r>
          </a:p>
          <a:p>
            <a:pPr algn="l" marL="1122773" indent="-561387" lvl="1">
              <a:lnSpc>
                <a:spcPts val="7852"/>
              </a:lnSpc>
              <a:buFont typeface="Arial"/>
              <a:buChar char="•"/>
            </a:pPr>
            <a:r>
              <a:rPr lang="en-US" sz="5200">
                <a:solidFill>
                  <a:srgbClr val="000000"/>
                </a:solidFill>
                <a:latin typeface="Roboto"/>
                <a:ea typeface="Roboto"/>
                <a:cs typeface="Roboto"/>
                <a:sym typeface="Roboto"/>
              </a:rPr>
              <a:t>Phụ thuộc thêm nhiều thư viện</a:t>
            </a:r>
          </a:p>
          <a:p>
            <a:pPr algn="l" marL="1122773" indent="-561387" lvl="1">
              <a:lnSpc>
                <a:spcPts val="7852"/>
              </a:lnSpc>
              <a:buFont typeface="Arial"/>
              <a:buChar char="•"/>
            </a:pPr>
            <a:r>
              <a:rPr lang="en-US" sz="5200">
                <a:solidFill>
                  <a:srgbClr val="000000"/>
                </a:solidFill>
                <a:latin typeface="Roboto"/>
                <a:ea typeface="Roboto"/>
                <a:cs typeface="Roboto"/>
                <a:sym typeface="Roboto"/>
              </a:rPr>
              <a:t>Tăng độ phức tạp cho người mới</a:t>
            </a:r>
          </a:p>
        </p:txBody>
      </p:sp>
      <p:sp>
        <p:nvSpPr>
          <p:cNvPr name="TextBox 5" id="5"/>
          <p:cNvSpPr txBox="true"/>
          <p:nvPr/>
        </p:nvSpPr>
        <p:spPr>
          <a:xfrm rot="0">
            <a:off x="826110" y="2960417"/>
            <a:ext cx="4074418" cy="896609"/>
          </a:xfrm>
          <a:prstGeom prst="rect">
            <a:avLst/>
          </a:prstGeom>
        </p:spPr>
        <p:txBody>
          <a:bodyPr anchor="t" rtlCol="false" tIns="0" lIns="0" bIns="0" rIns="0">
            <a:spAutoFit/>
          </a:bodyPr>
          <a:lstStyle/>
          <a:p>
            <a:pPr algn="l">
              <a:lnSpc>
                <a:spcPts val="7280"/>
              </a:lnSpc>
            </a:pPr>
            <a:r>
              <a:rPr lang="en-US" sz="5200" b="true">
                <a:solidFill>
                  <a:srgbClr val="000000"/>
                </a:solidFill>
                <a:latin typeface="Roboto Bold"/>
                <a:ea typeface="Roboto Bold"/>
                <a:cs typeface="Roboto Bold"/>
                <a:sym typeface="Roboto Bold"/>
              </a:rPr>
              <a:t>Nhược điểm:</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0354995" y="1685925"/>
            <a:ext cx="6364064" cy="3889944"/>
          </a:xfrm>
          <a:custGeom>
            <a:avLst/>
            <a:gdLst/>
            <a:ahLst/>
            <a:cxnLst/>
            <a:rect r="r" b="b" t="t" l="l"/>
            <a:pathLst>
              <a:path h="3889944" w="6364064">
                <a:moveTo>
                  <a:pt x="0" y="0"/>
                </a:moveTo>
                <a:lnTo>
                  <a:pt x="6364064" y="0"/>
                </a:lnTo>
                <a:lnTo>
                  <a:pt x="6364064" y="3889944"/>
                </a:lnTo>
                <a:lnTo>
                  <a:pt x="0" y="3889944"/>
                </a:lnTo>
                <a:lnTo>
                  <a:pt x="0" y="0"/>
                </a:lnTo>
                <a:close/>
              </a:path>
            </a:pathLst>
          </a:custGeom>
          <a:blipFill>
            <a:blip r:embed="rId2"/>
            <a:stretch>
              <a:fillRect l="0" t="0" r="0" b="0"/>
            </a:stretch>
          </a:blipFill>
        </p:spPr>
      </p:sp>
      <p:sp>
        <p:nvSpPr>
          <p:cNvPr name="Freeform 3" id="3"/>
          <p:cNvSpPr/>
          <p:nvPr/>
        </p:nvSpPr>
        <p:spPr>
          <a:xfrm flipH="false" flipV="false" rot="0">
            <a:off x="1624135" y="1543823"/>
            <a:ext cx="7073766" cy="4032046"/>
          </a:xfrm>
          <a:custGeom>
            <a:avLst/>
            <a:gdLst/>
            <a:ahLst/>
            <a:cxnLst/>
            <a:rect r="r" b="b" t="t" l="l"/>
            <a:pathLst>
              <a:path h="4032046" w="7073766">
                <a:moveTo>
                  <a:pt x="0" y="0"/>
                </a:moveTo>
                <a:lnTo>
                  <a:pt x="7073765" y="0"/>
                </a:lnTo>
                <a:lnTo>
                  <a:pt x="7073765" y="4032046"/>
                </a:lnTo>
                <a:lnTo>
                  <a:pt x="0" y="4032046"/>
                </a:lnTo>
                <a:lnTo>
                  <a:pt x="0" y="0"/>
                </a:lnTo>
                <a:close/>
              </a:path>
            </a:pathLst>
          </a:custGeom>
          <a:blipFill>
            <a:blip r:embed="rId3"/>
            <a:stretch>
              <a:fillRect l="0" t="0" r="0" b="0"/>
            </a:stretch>
          </a:blipFill>
        </p:spPr>
      </p:sp>
      <p:sp>
        <p:nvSpPr>
          <p:cNvPr name="Freeform 4" id="4"/>
          <p:cNvSpPr/>
          <p:nvPr/>
        </p:nvSpPr>
        <p:spPr>
          <a:xfrm flipH="false" flipV="false" rot="0">
            <a:off x="3656567" y="5887154"/>
            <a:ext cx="10629466" cy="510355"/>
          </a:xfrm>
          <a:custGeom>
            <a:avLst/>
            <a:gdLst/>
            <a:ahLst/>
            <a:cxnLst/>
            <a:rect r="r" b="b" t="t" l="l"/>
            <a:pathLst>
              <a:path h="510355" w="10629466">
                <a:moveTo>
                  <a:pt x="0" y="0"/>
                </a:moveTo>
                <a:lnTo>
                  <a:pt x="10629466" y="0"/>
                </a:lnTo>
                <a:lnTo>
                  <a:pt x="10629466" y="510356"/>
                </a:lnTo>
                <a:lnTo>
                  <a:pt x="0" y="510356"/>
                </a:lnTo>
                <a:lnTo>
                  <a:pt x="0" y="0"/>
                </a:lnTo>
                <a:close/>
              </a:path>
            </a:pathLst>
          </a:custGeom>
          <a:blipFill>
            <a:blip r:embed="rId4"/>
            <a:stretch>
              <a:fillRect l="0" t="0" r="0" b="0"/>
            </a:stretch>
          </a:blipFill>
        </p:spPr>
      </p:sp>
      <p:sp>
        <p:nvSpPr>
          <p:cNvPr name="Freeform 5" id="5"/>
          <p:cNvSpPr/>
          <p:nvPr/>
        </p:nvSpPr>
        <p:spPr>
          <a:xfrm flipH="false" flipV="false" rot="0">
            <a:off x="3656567" y="6397510"/>
            <a:ext cx="10673974" cy="2391247"/>
          </a:xfrm>
          <a:custGeom>
            <a:avLst/>
            <a:gdLst/>
            <a:ahLst/>
            <a:cxnLst/>
            <a:rect r="r" b="b" t="t" l="l"/>
            <a:pathLst>
              <a:path h="2391247" w="10673974">
                <a:moveTo>
                  <a:pt x="0" y="0"/>
                </a:moveTo>
                <a:lnTo>
                  <a:pt x="10673974" y="0"/>
                </a:lnTo>
                <a:lnTo>
                  <a:pt x="10673974" y="2391247"/>
                </a:lnTo>
                <a:lnTo>
                  <a:pt x="0" y="2391247"/>
                </a:lnTo>
                <a:lnTo>
                  <a:pt x="0" y="0"/>
                </a:lnTo>
                <a:close/>
              </a:path>
            </a:pathLst>
          </a:custGeom>
          <a:blipFill>
            <a:blip r:embed="rId5"/>
            <a:stretch>
              <a:fillRect l="0" t="0" r="0" b="0"/>
            </a:stretch>
          </a:blipFill>
        </p:spPr>
      </p:sp>
      <p:sp>
        <p:nvSpPr>
          <p:cNvPr name="TextBox 6" id="6"/>
          <p:cNvSpPr txBox="true"/>
          <p:nvPr/>
        </p:nvSpPr>
        <p:spPr>
          <a:xfrm rot="0">
            <a:off x="635104" y="174055"/>
            <a:ext cx="16624196" cy="972174"/>
          </a:xfrm>
          <a:prstGeom prst="rect">
            <a:avLst/>
          </a:prstGeom>
        </p:spPr>
        <p:txBody>
          <a:bodyPr anchor="t" rtlCol="false" tIns="0" lIns="0" bIns="0" rIns="0">
            <a:spAutoFit/>
          </a:bodyPr>
          <a:lstStyle/>
          <a:p>
            <a:pPr algn="l">
              <a:lnSpc>
                <a:spcPts val="7840"/>
              </a:lnSpc>
            </a:pPr>
            <a:r>
              <a:rPr lang="en-US" sz="5600" b="true">
                <a:solidFill>
                  <a:srgbClr val="000000"/>
                </a:solidFill>
                <a:latin typeface="Roboto Bold"/>
                <a:ea typeface="Roboto Bold"/>
                <a:cs typeface="Roboto Bold"/>
                <a:sym typeface="Roboto Bold"/>
              </a:rPr>
              <a:t>SO SÁNH VÀ TỐI ƯU HIỆU NĂNG SQLITE VÀ DRIFT</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FF3F0"/>
        </a:solidFill>
      </p:bgPr>
    </p:bg>
    <p:spTree>
      <p:nvGrpSpPr>
        <p:cNvPr id="1" name=""/>
        <p:cNvGrpSpPr/>
        <p:nvPr/>
      </p:nvGrpSpPr>
      <p:grpSpPr>
        <a:xfrm>
          <a:off x="0" y="0"/>
          <a:ext cx="0" cy="0"/>
          <a:chOff x="0" y="0"/>
          <a:chExt cx="0" cy="0"/>
        </a:xfrm>
      </p:grpSpPr>
      <p:sp>
        <p:nvSpPr>
          <p:cNvPr name="Freeform 2" id="2"/>
          <p:cNvSpPr/>
          <p:nvPr/>
        </p:nvSpPr>
        <p:spPr>
          <a:xfrm flipH="false" flipV="false" rot="0">
            <a:off x="11186965" y="1349563"/>
            <a:ext cx="5458102" cy="4614461"/>
          </a:xfrm>
          <a:custGeom>
            <a:avLst/>
            <a:gdLst/>
            <a:ahLst/>
            <a:cxnLst/>
            <a:rect r="r" b="b" t="t" l="l"/>
            <a:pathLst>
              <a:path h="4614461" w="5458102">
                <a:moveTo>
                  <a:pt x="0" y="0"/>
                </a:moveTo>
                <a:lnTo>
                  <a:pt x="5458102" y="0"/>
                </a:lnTo>
                <a:lnTo>
                  <a:pt x="5458102" y="4614461"/>
                </a:lnTo>
                <a:lnTo>
                  <a:pt x="0" y="4614461"/>
                </a:lnTo>
                <a:lnTo>
                  <a:pt x="0" y="0"/>
                </a:lnTo>
                <a:close/>
              </a:path>
            </a:pathLst>
          </a:custGeom>
          <a:blipFill>
            <a:blip r:embed="rId2"/>
            <a:stretch>
              <a:fillRect l="0" t="0" r="0" b="0"/>
            </a:stretch>
          </a:blipFill>
        </p:spPr>
      </p:sp>
      <p:sp>
        <p:nvSpPr>
          <p:cNvPr name="Freeform 3" id="3"/>
          <p:cNvSpPr/>
          <p:nvPr/>
        </p:nvSpPr>
        <p:spPr>
          <a:xfrm flipH="false" flipV="false" rot="0">
            <a:off x="635104" y="2148136"/>
            <a:ext cx="10387001" cy="3466577"/>
          </a:xfrm>
          <a:custGeom>
            <a:avLst/>
            <a:gdLst/>
            <a:ahLst/>
            <a:cxnLst/>
            <a:rect r="r" b="b" t="t" l="l"/>
            <a:pathLst>
              <a:path h="3466577" w="10387001">
                <a:moveTo>
                  <a:pt x="0" y="0"/>
                </a:moveTo>
                <a:lnTo>
                  <a:pt x="10387001" y="0"/>
                </a:lnTo>
                <a:lnTo>
                  <a:pt x="10387001" y="3466578"/>
                </a:lnTo>
                <a:lnTo>
                  <a:pt x="0" y="3466578"/>
                </a:lnTo>
                <a:lnTo>
                  <a:pt x="0" y="0"/>
                </a:lnTo>
                <a:close/>
              </a:path>
            </a:pathLst>
          </a:custGeom>
          <a:blipFill>
            <a:blip r:embed="rId3"/>
            <a:stretch>
              <a:fillRect l="-1408" t="-179" r="0" b="-179"/>
            </a:stretch>
          </a:blipFill>
        </p:spPr>
      </p:sp>
      <p:sp>
        <p:nvSpPr>
          <p:cNvPr name="Freeform 4" id="4"/>
          <p:cNvSpPr/>
          <p:nvPr/>
        </p:nvSpPr>
        <p:spPr>
          <a:xfrm flipH="false" flipV="false" rot="0">
            <a:off x="3504409" y="6304645"/>
            <a:ext cx="10198700" cy="3530319"/>
          </a:xfrm>
          <a:custGeom>
            <a:avLst/>
            <a:gdLst/>
            <a:ahLst/>
            <a:cxnLst/>
            <a:rect r="r" b="b" t="t" l="l"/>
            <a:pathLst>
              <a:path h="3530319" w="10198700">
                <a:moveTo>
                  <a:pt x="0" y="0"/>
                </a:moveTo>
                <a:lnTo>
                  <a:pt x="10198700" y="0"/>
                </a:lnTo>
                <a:lnTo>
                  <a:pt x="10198700" y="3530320"/>
                </a:lnTo>
                <a:lnTo>
                  <a:pt x="0" y="3530320"/>
                </a:lnTo>
                <a:lnTo>
                  <a:pt x="0" y="0"/>
                </a:lnTo>
                <a:close/>
              </a:path>
            </a:pathLst>
          </a:custGeom>
          <a:blipFill>
            <a:blip r:embed="rId4"/>
            <a:stretch>
              <a:fillRect l="0" t="0" r="0" b="0"/>
            </a:stretch>
          </a:blipFill>
        </p:spPr>
      </p:sp>
      <p:sp>
        <p:nvSpPr>
          <p:cNvPr name="TextBox 5" id="5"/>
          <p:cNvSpPr txBox="true"/>
          <p:nvPr/>
        </p:nvSpPr>
        <p:spPr>
          <a:xfrm rot="0">
            <a:off x="635104" y="174055"/>
            <a:ext cx="16624196" cy="972174"/>
          </a:xfrm>
          <a:prstGeom prst="rect">
            <a:avLst/>
          </a:prstGeom>
        </p:spPr>
        <p:txBody>
          <a:bodyPr anchor="t" rtlCol="false" tIns="0" lIns="0" bIns="0" rIns="0">
            <a:spAutoFit/>
          </a:bodyPr>
          <a:lstStyle/>
          <a:p>
            <a:pPr algn="l">
              <a:lnSpc>
                <a:spcPts val="7840"/>
              </a:lnSpc>
            </a:pPr>
            <a:r>
              <a:rPr lang="en-US" sz="5600" b="true">
                <a:solidFill>
                  <a:srgbClr val="000000"/>
                </a:solidFill>
                <a:latin typeface="Roboto Bold"/>
                <a:ea typeface="Roboto Bold"/>
                <a:cs typeface="Roboto Bold"/>
                <a:sym typeface="Roboto Bold"/>
              </a:rPr>
              <a:t>SO SÁNH VÀ TỐI ƯU HIỆU NĂNG SQLITE VÀ DRIFT</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635104" y="180975"/>
            <a:ext cx="13696162" cy="1377944"/>
          </a:xfrm>
          <a:prstGeom prst="rect">
            <a:avLst/>
          </a:prstGeom>
        </p:spPr>
        <p:txBody>
          <a:bodyPr anchor="t" rtlCol="false" tIns="0" lIns="0" bIns="0" rIns="0">
            <a:spAutoFit/>
          </a:bodyPr>
          <a:lstStyle/>
          <a:p>
            <a:pPr algn="l">
              <a:lnSpc>
                <a:spcPts val="11200"/>
              </a:lnSpc>
            </a:pPr>
            <a:r>
              <a:rPr lang="en-US" sz="8000" b="true">
                <a:solidFill>
                  <a:srgbClr val="000000"/>
                </a:solidFill>
                <a:latin typeface="Roboto Bold"/>
                <a:ea typeface="Roboto Bold"/>
                <a:cs typeface="Roboto Bold"/>
                <a:sym typeface="Roboto Bold"/>
              </a:rPr>
              <a:t>CÁC NGUỒN THAM KHẢO</a:t>
            </a:r>
          </a:p>
        </p:txBody>
      </p:sp>
      <p:sp>
        <p:nvSpPr>
          <p:cNvPr name="TextBox 4" id="4"/>
          <p:cNvSpPr txBox="true"/>
          <p:nvPr/>
        </p:nvSpPr>
        <p:spPr>
          <a:xfrm rot="0">
            <a:off x="635104" y="1841596"/>
            <a:ext cx="17242791" cy="7433934"/>
          </a:xfrm>
          <a:prstGeom prst="rect">
            <a:avLst/>
          </a:prstGeom>
        </p:spPr>
        <p:txBody>
          <a:bodyPr anchor="t" rtlCol="false" tIns="0" lIns="0" bIns="0" rIns="0">
            <a:spAutoFit/>
          </a:bodyPr>
          <a:lstStyle/>
          <a:p>
            <a:pPr algn="l" marL="1014826" indent="-507413" lvl="1">
              <a:lnSpc>
                <a:spcPts val="6580"/>
              </a:lnSpc>
              <a:buFont typeface="Arial"/>
              <a:buChar char="•"/>
            </a:pPr>
            <a:r>
              <a:rPr lang="en-US" b="true" sz="4700">
                <a:solidFill>
                  <a:srgbClr val="000000"/>
                </a:solidFill>
                <a:latin typeface="Roboto Bold"/>
                <a:ea typeface="Roboto Bold"/>
                <a:cs typeface="Roboto Bold"/>
                <a:sym typeface="Roboto Bold"/>
              </a:rPr>
              <a:t>S</a:t>
            </a:r>
            <a:r>
              <a:rPr lang="en-US" b="true" sz="4700">
                <a:solidFill>
                  <a:srgbClr val="000000"/>
                </a:solidFill>
                <a:latin typeface="Roboto Bold"/>
                <a:ea typeface="Roboto Bold"/>
                <a:cs typeface="Roboto Bold"/>
                <a:sym typeface="Roboto Bold"/>
              </a:rPr>
              <a:t>lidefull_060725.pdf</a:t>
            </a:r>
          </a:p>
          <a:p>
            <a:pPr algn="l" marL="1014826" indent="-507413" lvl="1">
              <a:lnSpc>
                <a:spcPts val="6580"/>
              </a:lnSpc>
              <a:buFont typeface="Arial"/>
              <a:buChar char="•"/>
            </a:pPr>
            <a:r>
              <a:rPr lang="en-US" b="true" sz="4700">
                <a:solidFill>
                  <a:srgbClr val="000000"/>
                </a:solidFill>
                <a:latin typeface="Roboto Bold"/>
                <a:ea typeface="Roboto Bold"/>
                <a:cs typeface="Roboto Bold"/>
                <a:sym typeface="Roboto Bold"/>
              </a:rPr>
              <a:t>https://docs.flutter.dev/cookbook/persistence/sqlite</a:t>
            </a:r>
          </a:p>
          <a:p>
            <a:pPr algn="l" marL="1014826" indent="-507413" lvl="1">
              <a:lnSpc>
                <a:spcPts val="6580"/>
              </a:lnSpc>
              <a:buFont typeface="Arial"/>
              <a:buChar char="•"/>
            </a:pPr>
            <a:r>
              <a:rPr lang="en-US" b="true" sz="4700">
                <a:solidFill>
                  <a:srgbClr val="000000"/>
                </a:solidFill>
                <a:latin typeface="Roboto Bold"/>
                <a:ea typeface="Roboto Bold"/>
                <a:cs typeface="Roboto Bold"/>
                <a:sym typeface="Roboto Bold"/>
              </a:rPr>
              <a:t>https://pub.dev/packages/drift/example</a:t>
            </a:r>
          </a:p>
          <a:p>
            <a:pPr algn="l" marL="1014826" indent="-507413" lvl="1">
              <a:lnSpc>
                <a:spcPts val="6580"/>
              </a:lnSpc>
              <a:buFont typeface="Arial"/>
              <a:buChar char="•"/>
            </a:pPr>
            <a:r>
              <a:rPr lang="en-US" b="true" sz="4700">
                <a:solidFill>
                  <a:srgbClr val="000000"/>
                </a:solidFill>
                <a:latin typeface="Roboto Bold"/>
                <a:ea typeface="Roboto Bold"/>
                <a:cs typeface="Roboto Bold"/>
                <a:sym typeface="Roboto Bold"/>
              </a:rPr>
              <a:t>https://sqlite.org/docs.html</a:t>
            </a:r>
          </a:p>
          <a:p>
            <a:pPr algn="l" marL="1014826" indent="-507413" lvl="1">
              <a:lnSpc>
                <a:spcPts val="6580"/>
              </a:lnSpc>
              <a:buFont typeface="Arial"/>
              <a:buChar char="•"/>
            </a:pPr>
            <a:r>
              <a:rPr lang="en-US" b="true" sz="4700">
                <a:solidFill>
                  <a:srgbClr val="000000"/>
                </a:solidFill>
                <a:latin typeface="Roboto Bold"/>
                <a:ea typeface="Roboto Bold"/>
                <a:cs typeface="Roboto Bold"/>
                <a:sym typeface="Roboto Bold"/>
              </a:rPr>
              <a:t>https://youtu.be/l54Bq7S-I1Y?si=7LZZR6rmUaZjycHz</a:t>
            </a:r>
          </a:p>
          <a:p>
            <a:pPr algn="l" marL="1014826" indent="-507413" lvl="1">
              <a:lnSpc>
                <a:spcPts val="6580"/>
              </a:lnSpc>
              <a:buFont typeface="Arial"/>
              <a:buChar char="•"/>
            </a:pPr>
            <a:r>
              <a:rPr lang="en-US" b="true" sz="4700">
                <a:solidFill>
                  <a:srgbClr val="000000"/>
                </a:solidFill>
                <a:latin typeface="Roboto Bold"/>
                <a:ea typeface="Roboto Bold"/>
                <a:cs typeface="Roboto Bold"/>
                <a:sym typeface="Roboto Bold"/>
              </a:rPr>
              <a:t>https://youtu.be/Ffc4nGc2zx8?si=FzL9Xe_OG9TM3SN4</a:t>
            </a:r>
          </a:p>
          <a:p>
            <a:pPr algn="l" marL="1014826" indent="-507413" lvl="1">
              <a:lnSpc>
                <a:spcPts val="6580"/>
              </a:lnSpc>
              <a:buFont typeface="Arial"/>
              <a:buChar char="•"/>
            </a:pPr>
            <a:r>
              <a:rPr lang="en-US" b="true" sz="4700">
                <a:solidFill>
                  <a:srgbClr val="000000"/>
                </a:solidFill>
                <a:latin typeface="Roboto Bold"/>
                <a:ea typeface="Roboto Bold"/>
                <a:cs typeface="Roboto Bold"/>
                <a:sym typeface="Roboto Bold"/>
              </a:rPr>
              <a:t>https://youtube.com/playlist?list=PLztm2TugcV9Tn6J_H5mtxYIBN40uMAZgO&amp;si=r__0G6u9MHhjGgag</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6332514" y="4135560"/>
            <a:ext cx="5622973" cy="5622973"/>
          </a:xfrm>
          <a:custGeom>
            <a:avLst/>
            <a:gdLst/>
            <a:ahLst/>
            <a:cxnLst/>
            <a:rect r="r" b="b" t="t" l="l"/>
            <a:pathLst>
              <a:path h="5622973" w="5622973">
                <a:moveTo>
                  <a:pt x="0" y="0"/>
                </a:moveTo>
                <a:lnTo>
                  <a:pt x="5622972" y="0"/>
                </a:lnTo>
                <a:lnTo>
                  <a:pt x="5622972" y="5622973"/>
                </a:lnTo>
                <a:lnTo>
                  <a:pt x="0" y="56229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31978" y="847725"/>
            <a:ext cx="15024044" cy="3152775"/>
          </a:xfrm>
          <a:prstGeom prst="rect">
            <a:avLst/>
          </a:prstGeom>
        </p:spPr>
        <p:txBody>
          <a:bodyPr anchor="t" rtlCol="false" tIns="0" lIns="0" bIns="0" rIns="0">
            <a:spAutoFit/>
          </a:bodyPr>
          <a:lstStyle/>
          <a:p>
            <a:pPr algn="ctr">
              <a:lnSpc>
                <a:spcPts val="12599"/>
              </a:lnSpc>
              <a:spcBef>
                <a:spcPct val="0"/>
              </a:spcBef>
            </a:pPr>
            <a:r>
              <a:rPr lang="en-US" b="true" sz="9000" i="true">
                <a:solidFill>
                  <a:srgbClr val="000000"/>
                </a:solidFill>
                <a:latin typeface="Roboto Bold Italics"/>
                <a:ea typeface="Roboto Bold Italics"/>
                <a:cs typeface="Roboto Bold Italics"/>
                <a:sym typeface="Roboto Bold Italics"/>
              </a:rPr>
              <a:t>CẢM ƠN THẦY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DAG2mErDF9c</dc:identifier>
  <dcterms:modified xsi:type="dcterms:W3CDTF">2011-08-01T06:04:30Z</dcterms:modified>
  <cp:revision>1</cp:revision>
  <dc:title>SQLite và Drift ORM</dc:title>
</cp:coreProperties>
</file>